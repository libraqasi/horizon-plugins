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ef9112c010461d" /><Relationship Type="http://schemas.openxmlformats.org/officeDocument/2006/relationships/extended-properties" Target="/docProps/app.xml" Id="R172a995331fd4ee8" /><Relationship Type="http://schemas.openxmlformats.org/officeDocument/2006/relationships/officeDocument" Target="/ppt/presentation.xml" Id="Rbf89173281f447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e81c54ca1a48f8"/>
  </p:sldMasterIdLst>
  <p:notesMasterIdLst>
    <p:notesMasterId xmlns:r="http://schemas.openxmlformats.org/officeDocument/2006/relationships" r:id="Rae37525992124762"/>
  </p:notesMasterIdLst>
  <p:sldIdLst>
    <p:sldId xmlns:r="http://schemas.openxmlformats.org/officeDocument/2006/relationships" id="256" r:id="Re368b2f1fcb049f5"/>
    <p:sldId xmlns:r="http://schemas.openxmlformats.org/officeDocument/2006/relationships" id="257" r:id="Re7707bd6168b46db"/>
    <p:sldId xmlns:r="http://schemas.openxmlformats.org/officeDocument/2006/relationships" id="258" r:id="Re0ce279447394d57"/>
    <p:sldId xmlns:r="http://schemas.openxmlformats.org/officeDocument/2006/relationships" id="259" r:id="R4d1d4e0988724eed"/>
    <p:sldId xmlns:r="http://schemas.openxmlformats.org/officeDocument/2006/relationships" id="260" r:id="R6a746d91df244bd3"/>
    <p:sldId xmlns:r="http://schemas.openxmlformats.org/officeDocument/2006/relationships" id="261" r:id="R3f60ba224c804c34"/>
    <p:sldId xmlns:r="http://schemas.openxmlformats.org/officeDocument/2006/relationships" id="262" r:id="Ra6076dbfe9ca48d4"/>
    <p:sldId xmlns:r="http://schemas.openxmlformats.org/officeDocument/2006/relationships" id="263" r:id="R4e90e0279be341ac"/>
    <p:sldId xmlns:r="http://schemas.openxmlformats.org/officeDocument/2006/relationships" id="264" r:id="Rdce74fb004b44339"/>
    <p:sldId xmlns:r="http://schemas.openxmlformats.org/officeDocument/2006/relationships" id="265" r:id="Rd0e7cd1eda694b43"/>
    <p:sldId xmlns:r="http://schemas.openxmlformats.org/officeDocument/2006/relationships" id="266" r:id="R349ce1f6b80f448c"/>
    <p:sldId xmlns:r="http://schemas.openxmlformats.org/officeDocument/2006/relationships" id="267" r:id="Rd11962dc656f4006"/>
    <p:sldId xmlns:r="http://schemas.openxmlformats.org/officeDocument/2006/relationships" id="268" r:id="Rf77c2b3852d74238"/>
    <p:sldId xmlns:r="http://schemas.openxmlformats.org/officeDocument/2006/relationships" id="269" r:id="R816b625b30fc44c0"/>
    <p:sldId xmlns:r="http://schemas.openxmlformats.org/officeDocument/2006/relationships" id="270" r:id="Ra5c6e8cc0cb449b6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5E944A21-B7D3-DB4C-488C-A52A9CACAF9D}" name="Schaps, Carlton" initials="SC" userId="S::Carlton.Schaps@wellsfargo.com::fe306e63-6730-4285-b141-034571da60c4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A2FFF61B-D25C-49D6-9A28-29191314A49D}">
  <a:tblStyle styleId="{A2FFF61B-D25C-49D6-9A28-29191314A49D}" styleName="Wells Fargo Table 01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dk1"/>
              </a:solidFill>
            </a:ln>
          </a:top>
          <a:bottom>
            <a:ln w="6350">
              <a:solidFill>
                <a:schemeClr val="dk1"/>
              </a:solidFill>
            </a:ln>
          </a:bottom>
          <a:insideH>
            <a:ln w="6350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lastRow>
      <a:tcTxStyle b="on">
        <a:fontRef idx="minor"/>
        <a:schemeClr val="dk1"/>
      </a:tcTxStyle>
      <a:tcStyle>
        <a:tcBdr>
          <a:top>
            <a:ln w="19050">
              <a:solidFill>
                <a:schemeClr val="dk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lt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5ef9a83e434760" /><Relationship Type="http://schemas.openxmlformats.org/officeDocument/2006/relationships/slideMaster" Target="/ppt/slideMasters/slideMaster1.xml" Id="Rbbe81c54ca1a48f8" /><Relationship Type="http://schemas.openxmlformats.org/officeDocument/2006/relationships/notesMaster" Target="/ppt/notesMasters/notesMaster1.xml" Id="Rae37525992124762" /><Relationship Type="http://schemas.openxmlformats.org/officeDocument/2006/relationships/presProps" Target="/ppt/presProps.xml" Id="Rf8c8ba58e6524a1c" /><Relationship Type="http://schemas.openxmlformats.org/officeDocument/2006/relationships/viewProps" Target="/ppt/viewProps.xml" Id="R03eb36f83c894544" /><Relationship Type="http://schemas.openxmlformats.org/officeDocument/2006/relationships/tableStyles" Target="/ppt/tableStyles.xml" Id="R14eaf0cfda694fbf" /><Relationship Type="http://schemas.microsoft.com/office/2018/10/relationships/authors" Target="/ppt/authors.xml" Id="R2900856b59d44d7e" /><Relationship Type="http://schemas.openxmlformats.org/officeDocument/2006/relationships/slide" Target="/ppt/slides/slide1.xml" Id="Re368b2f1fcb049f5" /><Relationship Type="http://schemas.openxmlformats.org/officeDocument/2006/relationships/slide" Target="/ppt/slides/slide2.xml" Id="Re7707bd6168b46db" /><Relationship Type="http://schemas.openxmlformats.org/officeDocument/2006/relationships/slide" Target="/ppt/slides/slide3.xml" Id="Re0ce279447394d57" /><Relationship Type="http://schemas.openxmlformats.org/officeDocument/2006/relationships/slide" Target="/ppt/slides/slide4.xml" Id="R4d1d4e0988724eed" /><Relationship Type="http://schemas.openxmlformats.org/officeDocument/2006/relationships/slide" Target="/ppt/slides/slide5.xml" Id="R6a746d91df244bd3" /><Relationship Type="http://schemas.openxmlformats.org/officeDocument/2006/relationships/slide" Target="/ppt/slides/slide6.xml" Id="R3f60ba224c804c34" /><Relationship Type="http://schemas.openxmlformats.org/officeDocument/2006/relationships/slide" Target="/ppt/slides/slide7.xml" Id="Ra6076dbfe9ca48d4" /><Relationship Type="http://schemas.openxmlformats.org/officeDocument/2006/relationships/slide" Target="/ppt/slides/slide8.xml" Id="R4e90e0279be341ac" /><Relationship Type="http://schemas.openxmlformats.org/officeDocument/2006/relationships/slide" Target="/ppt/slides/slide9.xml" Id="Rdce74fb004b44339" /><Relationship Type="http://schemas.openxmlformats.org/officeDocument/2006/relationships/slide" Target="/ppt/slides/slide10.xml" Id="Rd0e7cd1eda694b43" /><Relationship Type="http://schemas.openxmlformats.org/officeDocument/2006/relationships/slide" Target="/ppt/slides/slide11.xml" Id="R349ce1f6b80f448c" /><Relationship Type="http://schemas.openxmlformats.org/officeDocument/2006/relationships/slide" Target="/ppt/slides/slide12.xml" Id="Rd11962dc656f4006" /><Relationship Type="http://schemas.openxmlformats.org/officeDocument/2006/relationships/slide" Target="/ppt/slides/slide13.xml" Id="Rf77c2b3852d74238" /><Relationship Type="http://schemas.openxmlformats.org/officeDocument/2006/relationships/slide" Target="/ppt/slides/slide14.xml" Id="R816b625b30fc44c0" /><Relationship Type="http://schemas.openxmlformats.org/officeDocument/2006/relationships/slide" Target="/ppt/slides/slide15.xml" Id="Ra5c6e8cc0cb4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ec162a82b2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ells Fargo 2023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ells Fargo 2020 Color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b991bcb5a44ad0" /><Relationship Type="http://schemas.openxmlformats.org/officeDocument/2006/relationships/notesMaster" Target="/ppt/notesMasters/notesMaster1.xml" Id="R393b01c664c848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554e6c1d014017" /><Relationship Type="http://schemas.openxmlformats.org/officeDocument/2006/relationships/notesMaster" Target="/ppt/notesMasters/notesMaster1.xml" Id="R0606d1fc59f64a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c042da1c447ad" /><Relationship Type="http://schemas.openxmlformats.org/officeDocument/2006/relationships/notesMaster" Target="/ppt/notesMasters/notesMaster1.xml" Id="R2a4d475e3cbb43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3c5897d0f0462a" /><Relationship Type="http://schemas.openxmlformats.org/officeDocument/2006/relationships/notesMaster" Target="/ppt/notesMasters/notesMaster1.xml" Id="Rba7460f1f9ca40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a2f221cf1a4555" /><Relationship Type="http://schemas.openxmlformats.org/officeDocument/2006/relationships/notesMaster" Target="/ppt/notesMasters/notesMaster1.xml" Id="Rbfd9c2ff2981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668e746ccf479a" /><Relationship Type="http://schemas.openxmlformats.org/officeDocument/2006/relationships/notesMaster" Target="/ppt/notesMasters/notesMaster1.xml" Id="Re18ad5fd91b5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2a6a6710aa4522" /><Relationship Type="http://schemas.openxmlformats.org/officeDocument/2006/relationships/notesMaster" Target="/ppt/notesMasters/notesMaster1.xml" Id="R33e8d34d1acc4b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5fb7abb0cb4f20" /><Relationship Type="http://schemas.openxmlformats.org/officeDocument/2006/relationships/notesMaster" Target="/ppt/notesMasters/notesMaster1.xml" Id="Raf60b3e5edd14d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bc346f93484c42" /><Relationship Type="http://schemas.openxmlformats.org/officeDocument/2006/relationships/notesMaster" Target="/ppt/notesMasters/notesMaster1.xml" Id="R20ac9a443f6c47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4ec05d87174e38" /><Relationship Type="http://schemas.openxmlformats.org/officeDocument/2006/relationships/notesMaster" Target="/ppt/notesMasters/notesMaster1.xml" Id="R48b805001f1d46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09af5a41ad4624" /><Relationship Type="http://schemas.openxmlformats.org/officeDocument/2006/relationships/notesMaster" Target="/ppt/notesMasters/notesMaster1.xml" Id="R93f4c5bd0a6445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d71d9763d844c4" /><Relationship Type="http://schemas.openxmlformats.org/officeDocument/2006/relationships/notesMaster" Target="/ppt/notesMasters/notesMaster1.xml" Id="Rd5756b720c854f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2cb89b861548b8" /><Relationship Type="http://schemas.openxmlformats.org/officeDocument/2006/relationships/notesMaster" Target="/ppt/notesMasters/notesMaster1.xml" Id="Raabf2bc9b92546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ce2ab4691b49ce" /><Relationship Type="http://schemas.openxmlformats.org/officeDocument/2006/relationships/notesMaster" Target="/ppt/notesMasters/notesMaster1.xml" Id="R06b03233113440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235703fa4a412f" /><Relationship Type="http://schemas.openxmlformats.org/officeDocument/2006/relationships/notesMaster" Target="/ppt/notesMasters/notesMaster1.xml" Id="R57cc7cb5ff6a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setting the sequence: practical usage first, then the lessons for SMEs building reusable skills and plugins.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/Users/rameshyarlagadda/Desktop/-0- Wells Fargo Work/Agentic Commerce/Horizon Agentic Commerce/output/pdf/horizon-bank-design-plugin-quickstart.pdf</a:t>
            </a:r>
          </a:p>
          <a:p xmlns:a="http://schemas.openxmlformats.org/drawingml/2006/main">
            <a:r>
              <a:t>- /Users/rameshyarlagadda/.codex/plugins/cache/personal/horizon-bank-design/1.0.0+codex.20260727155802/.codex-plugin/plugin.json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executable layer explicitly. The same Python preflight is shipped with both skills so build and review workflows can use a consistent deterministic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/Users/rameshyarlagadda/.codex/plugins/cache/personal/horizon-bank-design/1.0.0+codex.20260727155802/skills/build-horizon-bank-ui/SKILL.md</a:t>
            </a:r>
          </a:p>
          <a:p xmlns:a="http://schemas.openxmlformats.org/drawingml/2006/main">
            <a:r>
              <a:t>- /Users/rameshyarlagadda/.codex/plugins/cache/personal/horizon-bank-design/1.0.0+codex.20260727155802/skills/audit-horizon-bank-ui/SKILL.md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/Users/rameshyarlagadda/.codex/plugins/cache/personal/horizon-bank-design/1.0.0+codex.20260727155802/skills/build-horizon-bank-ui/scripts/audit_horizon_ui.py</a:t>
            </a:r>
          </a:p>
          <a:p xmlns:a="http://schemas.openxmlformats.org/drawingml/2006/main">
            <a:r>
              <a:t>- /Users/rameshyarlagadda/.codex/plugins/cache/personal/horizon-bank-design/1.0.0+codex.20260727155802/skills/audit-horizon-bank-ui/scripts/audit_horizon_ui.py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Reassure new users that they do not need to understand skill routing. A concrete outcome and constraints are enough to begin.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/Users/rameshyarlagadda/Desktop/-0- Wells Fargo Work/Agentic Commerce/Horizon Agentic Commerce/output/pdf/horizon-bank-design-plugin-quickstart.pdf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formula is a starting scaffold, not a mandatory syntax. Emphasize conversational iteration.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/Users/rameshyarlagadda/Desktop/-0- Wells Fargo Work/Agentic Commerce/Horizon Agentic Commerce/output/pdf/horizon-bank-design-plugin-quickstart.pdf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malleability explicit. The plugin preserves the Horizon character while the starting point, surface, depth, banking need, and emphasis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/Users/rameshyarlagadda/Desktop/-0- Wells Fargo Work/Agentic Commerce/Horizon Agentic Commerce/output/pdf/horizon-bank-design-plugin-quickstart.pdf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prompts are intentionally broad banking examples rather than project-specific asks. Encourage people to change the nouns and add their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/Users/rameshyarlagadda/Desktop/-0- Wells Fargo Work/Agentic Commerce/Horizon Agentic Commerce/output/pdf/horizon-bank-design-plugin-quickstart.pdf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corrected internals slide. The Python script is not incidental: it turns obvious design and accessibility guidance into a deterministic, automatable preflight.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/Users/rameshyarlagadda/.codex/plugins/cache/personal/horizon-bank-design/1.0.0+codex.20260727155802/skills/build-horizon-bank-ui/references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/Users/rameshyarlagadda/.codex/plugins/cache/personal/horizon-bank-design/1.0.0+codex.20260727155802/skills/build-horizon-bank-ui/assets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/Users/rameshyarlagadda/.codex/plugins/cache/personal/horizon-bank-design/1.0.0+codex.20260727155802/skills/build-horizon-bank-ui/scripts/audit_horizon_ui.py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boundary plainly: the plugin raises the floor but is not an accessibility product or conformance certificate.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https://www.w3.org/TR/WCAG22/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/Users/rameshyarlagadda/.codex/plugins/cache/personal/horizon-bank-design/1.0.0+codex.20260727155802/skills/build-horizon-bank-ui/references/accessibility-and-content.md</a:t>
            </a:r>
          </a:p>
          <a:p xmlns:a="http://schemas.openxmlformats.org/drawingml/2006/main">
            <a:r>
              <a:t>- /Users/rameshyarlagadda/.codex/plugins/cache/personal/horizon-bank-design/1.0.0+codex.20260727155802/skills/audit-horizon-bank-ui/references/review-checklist.md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sequence matters. The synthetic Horizon system was stronger because the source design practice was captured before abstraction.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/Users/rameshyarlagadda/.codex/plugins/cache/personal/horizon-bank-design/1.0.0+codex.20260727155802/.codex-plugin/plugin.json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/Users/rameshyarlagadda/.codex/plugins/cache/personal/horizon-bank-design/1.0.0+codex.20260727155802/skills/build-horizon-bank-ui/SKILL.md</a:t>
            </a:r>
          </a:p>
          <a:p xmlns:a="http://schemas.openxmlformats.org/drawingml/2006/main">
            <a:r>
              <a:t>- /Users/rameshyarlagadda/.codex/plugins/cache/personal/horizon-bank-design/1.0.0+codex.20260727155802/skills/audit-horizon-bank-ui/SKILL.md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this as a dated snapshot, not a permanent ranking. Skills are converging on an open directory format; bundle packaging and marketplaces remain platform-specific.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https://help.openai.com/en/articles/20001256-plugins-in-codex/</a:t>
            </a:r>
          </a:p>
          <a:p xmlns:a="http://schemas.openxmlformats.org/drawingml/2006/main">
            <a:r>
              <a:t>- https://openai.com/codex/</a:t>
            </a:r>
          </a:p>
          <a:p xmlns:a="http://schemas.openxmlformats.org/drawingml/2006/main">
            <a:r>
              <a:t>- https://code.claude.com/docs/en/plugins</a:t>
            </a:r>
          </a:p>
          <a:p xmlns:a="http://schemas.openxmlformats.org/drawingml/2006/main">
            <a:r>
              <a:t>- https://code.claude.com/docs/en/slash-commands</a:t>
            </a:r>
          </a:p>
          <a:p xmlns:a="http://schemas.openxmlformats.org/drawingml/2006/main">
            <a:r>
              <a:t>- https://cursor.com/blog/marketplace</a:t>
            </a:r>
          </a:p>
          <a:p xmlns:a="http://schemas.openxmlformats.org/drawingml/2006/main">
            <a:r>
              <a:t>- https://cursor.com/changelog/2-4</a:t>
            </a:r>
          </a:p>
          <a:p xmlns:a="http://schemas.openxmlformats.org/drawingml/2006/main">
            <a:r>
              <a:t>- https://opencode.ai/docs/skills</a:t>
            </a:r>
          </a:p>
          <a:p xmlns:a="http://schemas.openxmlformats.org/drawingml/2006/main">
            <a:r>
              <a:t>- https://opencode.ai/v2/docs/build/plugins</a:t>
            </a:r>
          </a:p>
          <a:p xmlns:a="http://schemas.openxmlformats.org/drawingml/2006/main">
            <a:r>
              <a:t>- https://github.com/google-gemini/gemini-cli/blob/main/docs/extensions/index.md</a:t>
            </a:r>
          </a:p>
          <a:p xmlns:a="http://schemas.openxmlformats.org/drawingml/2006/main">
            <a:r>
              <a:t>- https://github.com/google-gemini/gemini-cli/blob/main/docs/extensions/reference.md</a:t>
            </a:r>
          </a:p>
          <a:p xmlns:a="http://schemas.openxmlformats.org/drawingml/2006/main">
            <a:r>
              <a:t>- https://docs.devin.ai/product-guides/skills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https://docs.github.com/en/copilot/concepts/agents/about-agent-skills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durable skill encodes outcomes and judgment. It should remain useful as models get better rather than describing a static capability ceiling.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https://openai.com/codex/</a:t>
            </a:r>
          </a:p>
          <a:p xmlns:a="http://schemas.openxmlformats.org/drawingml/2006/main">
            <a:r>
              <a:t>- https://docs.devin.ai/product-guides/skills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skill externalizes judgment. Without a credible owner, it can be consistent without being 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Horizon iteration examples to show why exhaustive review matters. The defects only appeared when the rendered system and underlying assets were inspected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/Users/rameshyarlagadda/.codex/plugins/cache/personal/horizon-bank-design/1.0.0+codex.20260727155802/skills/build-horizon-bank-ui/assets/starter/horizon-starter-preview.html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/Users/rameshyarlagadda/.codex/plugins/cache/personal/horizon-bank-design/1.0.0+codex.20260727155802/skills/build-horizon-bank-ui/references/asset-catalog.md</a:t>
            </a:r>
          </a:p>
          <a:p xmlns:a="http://schemas.openxmlformats.org/drawingml/2006/main">
            <a:r>
              <a:t>- /Users/rameshyarlagadda/.codex/plugins/cache/personal/horizon-bank-design/1.0.0+codex.20260727155802/skills/audit-horizon-bank-ui/scripts/audit_horizon_ui.py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Agentic workflows go farther when the agent can deterministically test its own work and iterate. Keep human judgment for the acceptance criteria that cannot be reduced to a stable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/Users/rameshyarlagadda/.codex/plugins/cache/personal/horizon-bank-design/1.0.0+codex.20260727155802/skills/build-horizon-bank-ui/scripts/audit_horizon_ui.py</a:t>
            </a:r>
          </a:p>
          <a:p xmlns:a="http://schemas.openxmlformats.org/drawingml/2006/main">
            <a:r>
              <a:t>- /Users/rameshyarlagadda/.codex/plugins/cache/personal/horizon-bank-design/1.0.0+codex.20260727155802/skills/audit-horizon-bank-ui/references/review-checklist.md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composition. A design plugin should own Horizon guidance, not duplicate Playwright, frontend, document, or presentation expertise. Combine capabilities and keep the feedback loop alive.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https://help.openai.com/en/articles/20001256-plugins-in-codex/</a:t>
            </a:r>
          </a:p>
          <a:p xmlns:a="http://schemas.openxmlformats.org/drawingml/2006/main">
            <a:r>
              <a:t>- https://code.claude.com/docs/en/plugins</a:t>
            </a:r>
          </a:p>
          <a:p xmlns:a="http://schemas.openxmlformats.org/drawingml/2006/main">
            <a:r>
              <a:t>- https://cursor.com/blog/marketplace</a:t>
            </a:r>
          </a:p>
          <a:p xmlns:a="http://schemas.openxmlformats.org/drawingml/2006/main">
            <a:r>
              <a:t>- https://github.com/google-gemini/gemini-cli/blob/main/docs/extensions/index.md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1fe722dc0412d" /><Relationship Type="http://schemas.openxmlformats.org/officeDocument/2006/relationships/image" Target="/ppt/media/image.emf" Id="Rdbf57c915bbc44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6fb81631d4cb1" /><Relationship Type="http://schemas.openxmlformats.org/officeDocument/2006/relationships/image" Target="/ppt/media/image.emf" Id="R31150483193c4f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9cf49486b46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bd530841943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4f71789d846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a6bd8db4240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5eabbb98d44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245eee3d649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2b662e1704ff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195640b6b4da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a2ab7ba194a6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87ab822354e9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528a46e4d43b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b2d4adbb9401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b12829e9f4f1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29802060f445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f2f50013e455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6a9f14f974dd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1b5d3a004486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17a255d324a4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6ce4f70a8495f" /><Relationship Type="http://schemas.openxmlformats.org/officeDocument/2006/relationships/image" Target="/ppt/media/image.emf" Id="Ra7418faefb17494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Wells Far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57c915bbc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"/>
            <a:ext cx="1033271" cy="103327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57200" y="2971799"/>
            <a:ext cx="8321040" cy="1554439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3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[Presentation title, </a:t>
            </a:r>
            <a:br/>
            <a:r>
              <a:t>three lines max]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9EEF560B-F1F7-439B-A213-D5BAFCD1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71907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57200" y="4937758"/>
            <a:ext cx="5943600" cy="9177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4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 xmlns:a="http://schemas.openxmlformats.org/drawingml/2006/main">
            <a:r>
              <a:t>[Month XX, 20XX]</a:t>
            </a:r>
            <a:br/>
            <a:r>
              <a:t>[Presenter information]</a:t>
            </a:r>
            <a:br/>
            <a:r>
              <a:t>[Presenter information optional line 2]</a:t>
            </a:r>
            <a:br/>
            <a:r>
              <a:t>[Presenter information optional line 3]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Wells Far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50483193c4f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"/>
            <a:ext cx="1033271" cy="103327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57200" y="2971799"/>
            <a:ext cx="5943600" cy="1554439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3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[Presentation title, </a:t>
            </a:r>
            <a:br/>
            <a:r>
              <a:t>three lines max]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5BFE6181-4B8D-484F-8611-EB3B070D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71907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57200" y="4937758"/>
            <a:ext cx="5943600" cy="9177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4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 xmlns:a="http://schemas.openxmlformats.org/drawingml/2006/main">
            <a:r>
              <a:t>[Month XX, 20XX]</a:t>
            </a:r>
            <a:br/>
            <a:r>
              <a:t>[Presenter information]</a:t>
            </a:r>
            <a:br/>
            <a:r>
              <a:t>[Presenter information optional line 2]</a:t>
            </a:r>
            <a:br/>
            <a:r>
              <a:t>[Presenter information optional line 3]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F1BAFAB-1E7F-70B5-94D0-AD6DA5A86AB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6842760" y="2189244"/>
            <a:ext cx="4892040" cy="3520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D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Insert an image here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[Slide title]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9FBAB615-DF93-4F5C-91BF-3210D69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10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1" y="1828800"/>
            <a:ext cx="5410200" cy="4340224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Font typeface="Arial"/>
              <a:buChar char="•"/>
              <a:tabLst>
                <a:tab pos="5365750" algn="r"/>
              </a:tabLst>
              <a:defRPr/>
            </a:lvl1pPr>
            <a:lvl2pPr marL="457200" indent="-228600">
              <a:buNone/>
              <a:tabLst>
                <a:tab pos="5365750" algn="r"/>
              </a:tabLst>
              <a:defRPr/>
            </a:lvl2pPr>
            <a:lvl3pPr marL="685800" indent="-228600">
              <a:buNone/>
              <a:tabLst>
                <a:tab pos="5365750" algn="r"/>
              </a:tabLst>
              <a:defRPr/>
            </a:lvl3pPr>
            <a:lvl4pPr marL="914400" indent="-228600">
              <a:buNone/>
              <a:tabLst>
                <a:tab pos="5365750" algn="r"/>
              </a:tabLst>
              <a:defRPr/>
            </a:lvl4pPr>
            <a:lvl5pPr marL="1143000" indent="-228600">
              <a:buNone/>
              <a:tabLst>
                <a:tab pos="5365750" algn="r"/>
              </a:tabLst>
              <a:defRPr/>
            </a:lvl5pPr>
            <a:lvl6pPr marL="1371600" indent="-228600">
              <a:buNone/>
              <a:tabLst>
                <a:tab pos="5365750" algn="r"/>
              </a:tabLst>
              <a:defRPr/>
            </a:lvl6pPr>
            <a:lvl7pPr marL="1600200" indent="-228600">
              <a:buNone/>
              <a:tabLst>
                <a:tab pos="5365750" algn="r"/>
              </a:tabLst>
              <a:defRPr/>
            </a:lvl7pPr>
            <a:lvl8pPr marL="1828800" indent="-228600">
              <a:buNone/>
              <a:tabLst>
                <a:tab pos="5365750" algn="r"/>
              </a:tabLst>
              <a:defRPr/>
            </a:lvl8pPr>
            <a:lvl9pPr marL="2057400" indent="-228600">
              <a:buNone/>
              <a:tabLst>
                <a:tab pos="5365750" algn="r"/>
              </a:tabLst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[Slide title]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CCBBEFFB-6DE9-4AFE-9FBA-7313FE2E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10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B1374CC1-74A8-4BE3-AA68-1534EF40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5410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828802"/>
            <a:ext cx="11277600" cy="4340224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Font typeface="Arial"/>
              <a:buChar char="•"/>
              <a:tabLst>
                <a:tab pos="5365750" algn="r"/>
              </a:tabLst>
              <a:defRPr/>
            </a:lvl1pPr>
            <a:lvl2pPr marL="457200" indent="-228600">
              <a:buNone/>
              <a:tabLst>
                <a:tab pos="5365750" algn="r"/>
              </a:tabLst>
              <a:defRPr/>
            </a:lvl2pPr>
            <a:lvl3pPr marL="685800" indent="-228600">
              <a:buNone/>
              <a:tabLst>
                <a:tab pos="5365750" algn="r"/>
              </a:tabLst>
              <a:defRPr/>
            </a:lvl3pPr>
            <a:lvl4pPr marL="914400" indent="-228600">
              <a:buNone/>
              <a:tabLst>
                <a:tab pos="5365750" algn="r"/>
              </a:tabLst>
              <a:defRPr/>
            </a:lvl4pPr>
            <a:lvl5pPr marL="1143000" indent="-228600">
              <a:buNone/>
              <a:tabLst>
                <a:tab pos="5365750" algn="r"/>
              </a:tabLst>
              <a:defRPr/>
            </a:lvl5pPr>
            <a:lvl6pPr marL="1371600" indent="-228600">
              <a:buNone/>
              <a:tabLst>
                <a:tab pos="5365750" algn="r"/>
              </a:tabLst>
              <a:defRPr/>
            </a:lvl6pPr>
            <a:lvl7pPr marL="1600200" indent="-228600">
              <a:buNone/>
              <a:tabLst>
                <a:tab pos="5365750" algn="r"/>
              </a:tabLst>
              <a:defRPr/>
            </a:lvl7pPr>
            <a:lvl8pPr marL="1828800" indent="-228600">
              <a:buNone/>
              <a:tabLst>
                <a:tab pos="5365750" algn="r"/>
              </a:tabLst>
              <a:defRPr/>
            </a:lvl8pPr>
            <a:lvl9pPr marL="2057400" indent="-228600">
              <a:buNone/>
              <a:tabLst>
                <a:tab pos="5365750" algn="r"/>
              </a:tabLst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[Slide title]</a:t>
            </a:r>
          </a:p>
        </p:txBody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11277600" cy="45688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[Slide title]</a:t>
            </a:r>
          </a:p>
        </p:txBody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7366000" cy="45688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365760" indent="-365760">
              <a:lnSpc>
                <a:spcPct val="90000"/>
              </a:lnSpc>
              <a:buFont typeface="Arial"/>
              <a:buChar char="•"/>
              <a:defRPr sz="3200">
                <a:latin typeface="+mj-lt"/>
                <a:ea typeface="+mj-lt"/>
                <a:cs typeface="+mj-lt"/>
              </a:defRPr>
            </a:lvl1pPr>
            <a:lvl2pPr marL="731520" indent="-365760">
              <a:lnSpc>
                <a:spcPct val="90000"/>
              </a:lnSpc>
              <a:buFont typeface="Arial"/>
              <a:buChar char="–"/>
              <a:defRPr sz="3200">
                <a:latin typeface="+mj-lt"/>
                <a:ea typeface="+mj-lt"/>
                <a:cs typeface="+mj-lt"/>
              </a:defRPr>
            </a:lvl2pPr>
            <a:lvl3pPr marL="1097280" indent="-365760">
              <a:lnSpc>
                <a:spcPct val="90000"/>
              </a:lnSpc>
              <a:buFont typeface="Arial"/>
              <a:buChar char="–"/>
              <a:defRPr sz="3200">
                <a:latin typeface="+mj-lt"/>
                <a:ea typeface="+mj-lt"/>
                <a:cs typeface="+mj-lt"/>
              </a:defRPr>
            </a:lvl3pPr>
            <a:lvl4pPr marL="1463040" indent="-365760">
              <a:lnSpc>
                <a:spcPct val="90000"/>
              </a:lnSpc>
              <a:buFont typeface="Arial"/>
              <a:buChar char="–"/>
              <a:defRPr sz="3200">
                <a:latin typeface="+mj-lt"/>
                <a:ea typeface="+mj-lt"/>
                <a:cs typeface="+mj-lt"/>
              </a:defRPr>
            </a:lvl4pPr>
            <a:lvl5pPr marL="1828800" indent="-365760">
              <a:lnSpc>
                <a:spcPct val="90000"/>
              </a:lnSpc>
              <a:buFont typeface="Arial"/>
              <a:buChar char="–"/>
              <a:defRPr sz="3200">
                <a:latin typeface="+mj-lt"/>
                <a:ea typeface="+mj-lt"/>
                <a:cs typeface="+mj-lt"/>
              </a:defRPr>
            </a:lvl5pPr>
            <a:lvl6pPr marL="2194560" indent="-365760">
              <a:lnSpc>
                <a:spcPct val="90000"/>
              </a:lnSpc>
              <a:buFont typeface="Arial"/>
              <a:buChar char="–"/>
              <a:defRPr sz="3200">
                <a:latin typeface="+mj-lt"/>
                <a:ea typeface="+mj-lt"/>
                <a:cs typeface="+mj-lt"/>
              </a:defRPr>
            </a:lvl6pPr>
            <a:lvl7pPr marL="2560320" indent="-365760">
              <a:lnSpc>
                <a:spcPct val="90000"/>
              </a:lnSpc>
              <a:buFont typeface="Arial"/>
              <a:buChar char="–"/>
              <a:defRPr sz="3200">
                <a:latin typeface="+mj-lt"/>
                <a:ea typeface="+mj-lt"/>
                <a:cs typeface="+mj-lt"/>
              </a:defRPr>
            </a:lvl7pPr>
            <a:lvl8pPr marL="2926080" indent="-365760">
              <a:lnSpc>
                <a:spcPct val="90000"/>
              </a:lnSpc>
              <a:buFont typeface="Arial"/>
              <a:buChar char="–"/>
              <a:defRPr sz="3200">
                <a:latin typeface="+mj-lt"/>
                <a:ea typeface="+mj-lt"/>
                <a:cs typeface="+mj-lt"/>
              </a:defRPr>
            </a:lvl8pPr>
            <a:lvl9pPr marL="3291840" indent="-365760">
              <a:lnSpc>
                <a:spcPct val="90000"/>
              </a:lnSpc>
              <a:buFont typeface="Arial"/>
              <a:buChar char="–"/>
              <a:defRPr sz="3200"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[Slide title]</a:t>
            </a:r>
          </a:p>
        </p:txBody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5413248" cy="4572000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324600" y="1600200"/>
            <a:ext cx="5413248" cy="4572000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[Slide title]</a:t>
            </a:r>
          </a:p>
        </p:txBody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199" y="1600200"/>
            <a:ext cx="3457575" cy="4572000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365626" y="1600200"/>
            <a:ext cx="3454400" cy="4572000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8277224" y="1600200"/>
            <a:ext cx="3457575" cy="457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[Slide title]</a:t>
            </a:r>
          </a:p>
        </p:txBody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199" y="1600200"/>
            <a:ext cx="3457575" cy="4572000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365626" y="1600200"/>
            <a:ext cx="7369174" cy="4572000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[Slide title]</a:t>
            </a:r>
          </a:p>
        </p:txBody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199" y="1600200"/>
            <a:ext cx="7366001" cy="4572000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277224" y="1600200"/>
            <a:ext cx="3457575" cy="4572000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 title]</a:t>
            </a:r>
          </a:p>
        </p:txBody>
      </p:sp>
      <p:sp>
        <p:nvSpPr>
          <p:cNvPr id="5" name="Chart Placeholder 1">
            <a:extLst xmlns:a="http://schemas.openxmlformats.org/drawingml/2006/main"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xmlns:a="http://schemas.openxmlformats.org/drawingml/2006/main" noGrp="1"/>
          </p:cNvSpPr>
          <p:nvPr>
            <p:ph type="chart" idx="11"/>
          </p:nvPr>
        </p:nvSpPr>
        <p:spPr>
          <a:xfrm xmlns:a="http://schemas.openxmlformats.org/drawingml/2006/main">
            <a:off x="457200" y="1600200"/>
            <a:ext cx="3454400" cy="20574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FontTx/>
              <a:buNone/>
              <a:defRPr sz="1200"/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6" name="Chart Placeholder 2">
            <a:extLst xmlns:a="http://schemas.openxmlformats.org/drawingml/2006/main"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xmlns:a="http://schemas.openxmlformats.org/drawingml/2006/main" noGrp="1"/>
          </p:cNvSpPr>
          <p:nvPr>
            <p:ph type="chart" idx="12"/>
          </p:nvPr>
        </p:nvSpPr>
        <p:spPr>
          <a:xfrm xmlns:a="http://schemas.openxmlformats.org/drawingml/2006/main">
            <a:off x="4367213" y="1600200"/>
            <a:ext cx="3454400" cy="20574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FontTx/>
              <a:buNone/>
              <a:defRPr sz="1200"/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7" name="Chart Placeholder 3">
            <a:extLst xmlns:a="http://schemas.openxmlformats.org/drawingml/2006/main"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xmlns:a="http://schemas.openxmlformats.org/drawingml/2006/main" noGrp="1"/>
          </p:cNvSpPr>
          <p:nvPr>
            <p:ph type="chart" idx="13"/>
          </p:nvPr>
        </p:nvSpPr>
        <p:spPr>
          <a:xfrm xmlns:a="http://schemas.openxmlformats.org/drawingml/2006/main">
            <a:off x="8277225" y="1600200"/>
            <a:ext cx="3454400" cy="20574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FontTx/>
              <a:buNone/>
              <a:defRPr sz="1200"/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8" name="Chart Placeholder 4">
            <a:extLst xmlns:a="http://schemas.openxmlformats.org/drawingml/2006/main"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xmlns:a="http://schemas.openxmlformats.org/drawingml/2006/main" noGrp="1"/>
          </p:cNvSpPr>
          <p:nvPr>
            <p:ph type="chart" idx="14"/>
          </p:nvPr>
        </p:nvSpPr>
        <p:spPr>
          <a:xfrm xmlns:a="http://schemas.openxmlformats.org/drawingml/2006/main">
            <a:off x="457200" y="4114800"/>
            <a:ext cx="3454400" cy="20574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FontTx/>
              <a:buNone/>
              <a:defRPr sz="1200"/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9" name="Chart Placeholder 5">
            <a:extLst xmlns:a="http://schemas.openxmlformats.org/drawingml/2006/main"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xmlns:a="http://schemas.openxmlformats.org/drawingml/2006/main" noGrp="1"/>
          </p:cNvSpPr>
          <p:nvPr>
            <p:ph type="chart" idx="15"/>
          </p:nvPr>
        </p:nvSpPr>
        <p:spPr>
          <a:xfrm xmlns:a="http://schemas.openxmlformats.org/drawingml/2006/main">
            <a:off x="4367213" y="4114800"/>
            <a:ext cx="3454400" cy="20574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FontTx/>
              <a:buNone/>
              <a:defRPr sz="1200"/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10" name="Chart Placeholder 6">
            <a:extLst xmlns:a="http://schemas.openxmlformats.org/drawingml/2006/main"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xmlns:a="http://schemas.openxmlformats.org/drawingml/2006/main" noGrp="1"/>
          </p:cNvSpPr>
          <p:nvPr>
            <p:ph type="chart" idx="16"/>
          </p:nvPr>
        </p:nvSpPr>
        <p:spPr>
          <a:xfrm xmlns:a="http://schemas.openxmlformats.org/drawingml/2006/main">
            <a:off x="8277225" y="4114800"/>
            <a:ext cx="3454400" cy="20574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FontTx/>
              <a:buNone/>
              <a:defRPr sz="1200"/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Section Header">
    <p:bg>
      <p:bgPr>
        <a:solidFill xmlns:a="http://schemas.openxmlformats.org/drawingml/2006/main">
          <a:srgbClr val="D7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F910CB-95D2-0C91-3B4A-68526E97F11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1"/>
            <a:ext cx="73660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[Section header title or quote]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7EF2A7E-ED94-E540-9CF4-B56F980A38D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  <p:sp>
        <p:nvSpPr>
          <p:cNvPr id="3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10C252E5-9618-4DD0-3E27-40196656DE4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457200" y="1642187"/>
            <a:ext cx="7366000" cy="4572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1">
              <a:buNone/>
            </a:pPr>
            <a:r>
              <a:t>Additional information, if needed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  <a:p xmlns:a="http://schemas.openxmlformats.org/drawingml/2006/main">
            <a:pPr lvl="6">
              <a:buNone/>
            </a:pPr>
            <a:r>
              <a:t>Seventh level</a:t>
            </a:r>
          </a:p>
          <a:p xmlns:a="http://schemas.openxmlformats.org/drawingml/2006/main">
            <a:pPr lvl="7">
              <a:buNone/>
            </a:pPr>
            <a:r>
              <a:t>Eighth level</a:t>
            </a:r>
          </a:p>
          <a:p xmlns:a="http://schemas.openxmlformats.org/drawingml/2006/main">
            <a:pPr lvl="8">
              <a:buNone/>
            </a:pPr>
            <a:r>
              <a:t>Ninth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Section Header - Orange">
    <p:bg>
      <p:bgPr>
        <a:solidFill xmlns:a="http://schemas.openxmlformats.org/drawingml/2006/main">
          <a:srgbClr val="EB69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7BAB03-7594-BAA7-C5F8-1BC8132738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73660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[Section header title or quote]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E969CF6-897C-2A47-AFD1-3CED01FF01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  <p:sp>
        <p:nvSpPr>
          <p:cNvPr id="3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42127858-582E-0E66-3472-9C70F96BDF1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457200" y="1642187"/>
            <a:ext cx="7366000" cy="4572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1">
              <a:buNone/>
            </a:pPr>
            <a:r>
              <a:t>Additional information, if needed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  <a:p xmlns:a="http://schemas.openxmlformats.org/drawingml/2006/main">
            <a:pPr lvl="6">
              <a:buNone/>
            </a:pPr>
            <a:r>
              <a:t>Seventh level</a:t>
            </a:r>
          </a:p>
          <a:p xmlns:a="http://schemas.openxmlformats.org/drawingml/2006/main">
            <a:pPr lvl="7">
              <a:buNone/>
            </a:pPr>
            <a:r>
              <a:t>Eighth level</a:t>
            </a:r>
          </a:p>
          <a:p xmlns:a="http://schemas.openxmlformats.org/drawingml/2006/main">
            <a:pPr lvl="8">
              <a:buNone/>
            </a:pPr>
            <a:r>
              <a:t>Ninth level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Section Header - Light Orange">
    <p:bg>
      <p:bgPr>
        <a:solidFill xmlns:a="http://schemas.openxmlformats.org/drawingml/2006/main">
          <a:srgbClr val="FF96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78BD83E-0049-9573-AE86-2DC9890EBD8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7366000" cy="5715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[Section header title or quote]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37D924-28E5-5843-9BA3-6C88EE563D2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  <p:sp>
        <p:nvSpPr>
          <p:cNvPr id="3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0AC315BD-BB7A-0153-1DAC-E0E62D6B6DD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457200" y="1642187"/>
            <a:ext cx="7366000" cy="4572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1">
              <a:buNone/>
            </a:pPr>
            <a:r>
              <a:t>Additional information, if needed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  <a:p xmlns:a="http://schemas.openxmlformats.org/drawingml/2006/main">
            <a:pPr lvl="6">
              <a:buNone/>
            </a:pPr>
            <a:r>
              <a:t>Seventh level</a:t>
            </a:r>
          </a:p>
          <a:p xmlns:a="http://schemas.openxmlformats.org/drawingml/2006/main">
            <a:pPr lvl="7">
              <a:buNone/>
            </a:pPr>
            <a:r>
              <a:t>Eighth level</a:t>
            </a:r>
          </a:p>
          <a:p xmlns:a="http://schemas.openxmlformats.org/drawingml/2006/main">
            <a:pPr lvl="8">
              <a:buNone/>
            </a:pPr>
            <a:r>
              <a:t>Ninth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Section Header - Whit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6A6D6C7-DEED-604E-9F87-29E1838E56B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46CF3A3-6A0F-3133-702C-9C3189A0383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73660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[Section header title or quote]</a:t>
            </a:r>
          </a:p>
        </p:txBody>
      </p:sp>
      <p:sp>
        <p:nvSpPr>
          <p:cNvPr id="3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64345561-728A-C420-1432-CA6F4B0DB59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457200" y="1642187"/>
            <a:ext cx="7366000" cy="4572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/>
              <a:buChar char="–"/>
              <a:defRPr sz="18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1">
              <a:buNone/>
            </a:pPr>
            <a:r>
              <a:t>Additional information, if needed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  <a:p xmlns:a="http://schemas.openxmlformats.org/drawingml/2006/main">
            <a:pPr lvl="6">
              <a:buNone/>
            </a:pPr>
            <a:r>
              <a:t>Seventh level</a:t>
            </a:r>
          </a:p>
          <a:p xmlns:a="http://schemas.openxmlformats.org/drawingml/2006/main">
            <a:pPr lvl="7">
              <a:buNone/>
            </a:pPr>
            <a:r>
              <a:t>Eighth level</a:t>
            </a:r>
          </a:p>
          <a:p xmlns:a="http://schemas.openxmlformats.org/drawingml/2006/main">
            <a:pPr lvl="8">
              <a:buNone/>
            </a:pPr>
            <a:r>
              <a:t>Ninth level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7366001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 title]</a:t>
            </a:r>
          </a:p>
        </p:txBody>
      </p:sp>
      <p:sp>
        <p:nvSpPr>
          <p:cNvPr id="8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457201" y="1600200"/>
            <a:ext cx="7366000" cy="457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8D6024E-F261-E8D4-BDFA-E9BF1BE2AF9B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8277225" y="-6350"/>
            <a:ext cx="3914775" cy="686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D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Insert an image here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 title]</a:t>
            </a:r>
          </a:p>
        </p:txBody>
      </p:sp>
      <p:sp>
        <p:nvSpPr>
          <p:cNvPr id="6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57199" y="1600200"/>
            <a:ext cx="9550401" cy="41148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[Optional photo caption]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5882B52-3839-39B1-E2A8-E2C61514DA1B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0" y="2103438"/>
            <a:ext cx="12192000" cy="47545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D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Insert an image here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 title]</a:t>
            </a:r>
          </a:p>
        </p:txBody>
      </p:sp>
      <p:sp>
        <p:nvSpPr>
          <p:cNvPr id="6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57199" y="1600200"/>
            <a:ext cx="7366001" cy="41148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[Optional photo caption]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2EC28CB-AB0D-637B-E92F-B2AD48DD9CF8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0" y="2103120"/>
            <a:ext cx="8277225" cy="47545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D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Insert an image here</a:t>
            </a:r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8277225" y="1600200"/>
            <a:ext cx="3457575" cy="41148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[Optional photo caption]</a:t>
            </a:r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994F1189-7C1A-39EB-0CC4-8A0A7BE5EF5D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8277225" y="2103120"/>
            <a:ext cx="3914775" cy="47545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DAD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Insert an image here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 title]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65BEEFC-B89E-9C41-8260-1542F0B43A2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Wells Far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18faefb174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"/>
            <a:ext cx="1033271" cy="1033271"/>
          </a:xfrm>
          <a:prstGeom xmlns:a="http://schemas.openxmlformats.org/drawingml/2006/main" prst="rect">
            <a:avLst/>
          </a:prstGeom>
        </p:spPr>
      </p:pic>
      <p:sp>
        <p:nvSpPr>
          <p:cNvPr id="8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57200" y="4341845"/>
            <a:ext cx="3454400" cy="1830355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0"/>
              </a:spcBef>
              <a:buFontTx/>
              <a:buNone/>
              <a:defRPr sz="1400"/>
            </a:lvl1pPr>
            <a:lvl2pPr marL="0" indent="0">
              <a:spcBef>
                <a:spcPts val="0"/>
              </a:spcBef>
              <a:buFontTx/>
              <a:buNone/>
              <a:defRPr sz="1400"/>
            </a:lvl2pPr>
            <a:lvl3pPr marL="0" indent="0">
              <a:spcBef>
                <a:spcPts val="0"/>
              </a:spcBef>
              <a:buFontTx/>
              <a:buNone/>
              <a:defRPr sz="1400"/>
            </a:lvl3pPr>
            <a:lvl4pPr marL="0" indent="0">
              <a:spcBef>
                <a:spcPts val="0"/>
              </a:spcBef>
              <a:buFontTx/>
              <a:buNone/>
              <a:defRPr sz="1400"/>
            </a:lvl4pPr>
            <a:lvl5pPr marL="0" indent="0">
              <a:spcBef>
                <a:spcPts val="0"/>
              </a:spcBef>
              <a:buFontTx/>
              <a:buNone/>
              <a:defRPr sz="1400"/>
            </a:lvl5pPr>
            <a:lvl6pPr marL="0" indent="0">
              <a:spcBef>
                <a:spcPts val="0"/>
              </a:spcBef>
              <a:buFontTx/>
              <a:buNone/>
              <a:defRPr sz="1400"/>
            </a:lvl6pPr>
            <a:lvl7pPr marL="0" indent="0">
              <a:spcBef>
                <a:spcPts val="0"/>
              </a:spcBef>
              <a:buFontTx/>
              <a:buNone/>
              <a:defRPr sz="1400"/>
            </a:lvl7pPr>
            <a:lvl8pPr marL="0" indent="0">
              <a:spcBef>
                <a:spcPts val="0"/>
              </a:spcBef>
              <a:buFontTx/>
              <a:buNone/>
              <a:defRPr sz="1400"/>
            </a:lvl8pPr>
            <a:lvl9pPr marL="0" indent="0">
              <a:spcBef>
                <a:spcPts val="0"/>
              </a:spcBef>
              <a:buFontTx/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[Optional contact information]</a:t>
            </a:r>
          </a:p>
        </p:txBody>
      </p:sp>
      <p:sp>
        <p:nvSpPr>
          <p:cNvPr id="7" name="Title 5">
            <a:extLst xmlns:a="http://schemas.openxmlformats.org/drawingml/2006/main">
              <a:ext uri="{FF2B5EF4-FFF2-40B4-BE49-F238E27FC236}">
                <a16:creationId xmlns:a16="http://schemas.microsoft.com/office/drawing/2014/main" id="{D07161D0-A723-0366-6830-AA8946C66A43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 hasCustomPrompt="1"/>
          </p:nvPr>
        </p:nvSpPr>
        <p:spPr>
          <a:xfrm xmlns:a="http://schemas.openxmlformats.org/drawingml/2006/main">
            <a:off x="457200" y="2400300"/>
            <a:ext cx="11277600" cy="9144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rPr>
                <a:solidFill>
                  <a:schemeClr val="tx1"/>
                </a:solidFill>
              </a:rPr>
              <a:t>Thank you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6b7017c2d4266" /><Relationship Type="http://schemas.openxmlformats.org/officeDocument/2006/relationships/slideLayout" Target="/ppt/slideLayouts/slideLayout1.xml" Id="Rb521cfd1a7254bf9" /><Relationship Type="http://schemas.openxmlformats.org/officeDocument/2006/relationships/slideLayout" Target="/ppt/slideLayouts/slideLayout2.xml" Id="R7703c779821e4fc1" /><Relationship Type="http://schemas.openxmlformats.org/officeDocument/2006/relationships/slideLayout" Target="/ppt/slideLayouts/slideLayout3.xml" Id="R74ac64118f654935" /><Relationship Type="http://schemas.openxmlformats.org/officeDocument/2006/relationships/slideLayout" Target="/ppt/slideLayouts/slideLayout4.xml" Id="R0b823a9de72b40bf" /><Relationship Type="http://schemas.openxmlformats.org/officeDocument/2006/relationships/slideLayout" Target="/ppt/slideLayouts/slideLayout5.xml" Id="R0eb257ae34cc40c4" /><Relationship Type="http://schemas.openxmlformats.org/officeDocument/2006/relationships/slideLayout" Target="/ppt/slideLayouts/slideLayout6.xml" Id="R6b2c4eb0e89b4872" /><Relationship Type="http://schemas.openxmlformats.org/officeDocument/2006/relationships/slideLayout" Target="/ppt/slideLayouts/slideLayout7.xml" Id="Rfa29d8b176204704" /><Relationship Type="http://schemas.openxmlformats.org/officeDocument/2006/relationships/slideLayout" Target="/ppt/slideLayouts/slideLayout8.xml" Id="R97f28aeb74b84471" /><Relationship Type="http://schemas.openxmlformats.org/officeDocument/2006/relationships/slideLayout" Target="/ppt/slideLayouts/slideLayout9.xml" Id="R1d66c04464d342b2" /><Relationship Type="http://schemas.openxmlformats.org/officeDocument/2006/relationships/slideLayout" Target="/ppt/slideLayouts/slideLayout10.xml" Id="R7723a9e447b844e8" /><Relationship Type="http://schemas.openxmlformats.org/officeDocument/2006/relationships/slideLayout" Target="/ppt/slideLayouts/slideLayout11.xml" Id="R0e983069e1224506" /><Relationship Type="http://schemas.openxmlformats.org/officeDocument/2006/relationships/slideLayout" Target="/ppt/slideLayouts/slideLayout12.xml" Id="R99aeb511f6364247" /><Relationship Type="http://schemas.openxmlformats.org/officeDocument/2006/relationships/slideLayout" Target="/ppt/slideLayouts/slideLayout13.xml" Id="R1e09e240dfef4585" /><Relationship Type="http://schemas.openxmlformats.org/officeDocument/2006/relationships/slideLayout" Target="/ppt/slideLayouts/slideLayout14.xml" Id="R143e4ad9a5124371" /><Relationship Type="http://schemas.openxmlformats.org/officeDocument/2006/relationships/slideLayout" Target="/ppt/slideLayouts/slideLayout15.xml" Id="R3cd4578c6b714fe7" /><Relationship Type="http://schemas.openxmlformats.org/officeDocument/2006/relationships/slideLayout" Target="/ppt/slideLayouts/slideLayout16.xml" Id="R3b0dc8beba164da9" /><Relationship Type="http://schemas.openxmlformats.org/officeDocument/2006/relationships/slideLayout" Target="/ppt/slideLayouts/slideLayout17.xml" Id="Rd45c4afc6777428f" /><Relationship Type="http://schemas.openxmlformats.org/officeDocument/2006/relationships/slideLayout" Target="/ppt/slideLayouts/slideLayout18.xml" Id="R231d0908c54348b6" /><Relationship Type="http://schemas.openxmlformats.org/officeDocument/2006/relationships/slideLayout" Target="/ppt/slideLayouts/slideLayout19.xml" Id="R9888aebda7334d6b" /><Relationship Type="http://schemas.openxmlformats.org/officeDocument/2006/relationships/slideLayout" Target="/ppt/slideLayouts/slideLayout20.xml" Id="R9cbccda5f5624403" /><Relationship Type="http://schemas.openxmlformats.org/officeDocument/2006/relationships/slideLayout" Target="/ppt/slideLayouts/slideLayout21.xml" Id="Rd2b9284d7b8741f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6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[Slide title]</a:t>
            </a:r>
          </a:p>
        </p:txBody>
      </p:sp>
      <p:sp>
        <p:nvSpPr>
          <p:cNvPr id="3" name="Text Placeholder">
            <a:extLst xmlns:a="http://schemas.openxmlformats.org/drawingml/2006/main"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11274552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008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000F85C7-EC28-5C4D-9577-C5634B07539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21cfd1a7254bf9"/>
    <p:sldLayoutId xmlns:r="http://schemas.openxmlformats.org/officeDocument/2006/relationships" id="2147483650" r:id="R7703c779821e4fc1"/>
    <p:sldLayoutId xmlns:r="http://schemas.openxmlformats.org/officeDocument/2006/relationships" id="2147483651" r:id="R74ac64118f654935"/>
    <p:sldLayoutId xmlns:r="http://schemas.openxmlformats.org/officeDocument/2006/relationships" id="2147483652" r:id="R0b823a9de72b40bf"/>
    <p:sldLayoutId xmlns:r="http://schemas.openxmlformats.org/officeDocument/2006/relationships" id="2147483653" r:id="R0eb257ae34cc40c4"/>
    <p:sldLayoutId xmlns:r="http://schemas.openxmlformats.org/officeDocument/2006/relationships" id="2147483654" r:id="R6b2c4eb0e89b4872"/>
    <p:sldLayoutId xmlns:r="http://schemas.openxmlformats.org/officeDocument/2006/relationships" id="2147483655" r:id="Rfa29d8b176204704"/>
    <p:sldLayoutId xmlns:r="http://schemas.openxmlformats.org/officeDocument/2006/relationships" id="2147483656" r:id="R97f28aeb74b84471"/>
    <p:sldLayoutId xmlns:r="http://schemas.openxmlformats.org/officeDocument/2006/relationships" id="2147483657" r:id="R1d66c04464d342b2"/>
    <p:sldLayoutId xmlns:r="http://schemas.openxmlformats.org/officeDocument/2006/relationships" id="2147483658" r:id="R7723a9e447b844e8"/>
    <p:sldLayoutId xmlns:r="http://schemas.openxmlformats.org/officeDocument/2006/relationships" id="2147483659" r:id="R0e983069e1224506"/>
    <p:sldLayoutId xmlns:r="http://schemas.openxmlformats.org/officeDocument/2006/relationships" id="2147483660" r:id="R99aeb511f6364247"/>
    <p:sldLayoutId xmlns:r="http://schemas.openxmlformats.org/officeDocument/2006/relationships" id="2147483661" r:id="R1e09e240dfef4585"/>
    <p:sldLayoutId xmlns:r="http://schemas.openxmlformats.org/officeDocument/2006/relationships" id="2147483662" r:id="R143e4ad9a5124371"/>
    <p:sldLayoutId xmlns:r="http://schemas.openxmlformats.org/officeDocument/2006/relationships" id="2147483663" r:id="R3cd4578c6b714fe7"/>
    <p:sldLayoutId xmlns:r="http://schemas.openxmlformats.org/officeDocument/2006/relationships" id="2147483664" r:id="R3b0dc8beba164da9"/>
    <p:sldLayoutId xmlns:r="http://schemas.openxmlformats.org/officeDocument/2006/relationships" id="2147483665" r:id="Rd45c4afc6777428f"/>
    <p:sldLayoutId xmlns:r="http://schemas.openxmlformats.org/officeDocument/2006/relationships" id="2147483666" r:id="R231d0908c54348b6"/>
    <p:sldLayoutId xmlns:r="http://schemas.openxmlformats.org/officeDocument/2006/relationships" id="2147483667" r:id="R9888aebda7334d6b"/>
    <p:sldLayoutId xmlns:r="http://schemas.openxmlformats.org/officeDocument/2006/relationships" id="2147483668" r:id="R9cbccda5f5624403"/>
    <p:sldLayoutId xmlns:r="http://schemas.openxmlformats.org/officeDocument/2006/relationships" id="2147483669" r:id="Rd2b9284d7b8741f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200"/>
        </a:spcBef>
        <a:spcAft>
          <a:spcPts val="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-228600" algn="l" defTabSz="914400">
        <a:lnSpc>
          <a:spcPct val="100000"/>
        </a:lnSpc>
        <a:spcBef>
          <a:spcPts val="300"/>
        </a:spcBef>
        <a:spcAft>
          <a:spcPts val="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indent="-228600" algn="l" defTabSz="914400">
        <a:lnSpc>
          <a:spcPct val="100000"/>
        </a:lnSpc>
        <a:spcBef>
          <a:spcPts val="300"/>
        </a:spcBef>
        <a:spcAft>
          <a:spcPts val="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914400" indent="-228600" algn="l" defTabSz="914400">
        <a:lnSpc>
          <a:spcPct val="100000"/>
        </a:lnSpc>
        <a:spcBef>
          <a:spcPts val="300"/>
        </a:spcBef>
        <a:spcAft>
          <a:spcPts val="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43000" indent="-228600" algn="l" defTabSz="914400">
        <a:lnSpc>
          <a:spcPct val="100000"/>
        </a:lnSpc>
        <a:spcBef>
          <a:spcPts val="300"/>
        </a:spcBef>
        <a:spcAft>
          <a:spcPts val="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371600" indent="-228600" algn="l" defTabSz="914400">
        <a:lnSpc>
          <a:spcPct val="100000"/>
        </a:lnSpc>
        <a:spcBef>
          <a:spcPts val="300"/>
        </a:spcBef>
        <a:spcAft>
          <a:spcPts val="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00200" indent="-228600" algn="l" defTabSz="914400">
        <a:lnSpc>
          <a:spcPct val="100000"/>
        </a:lnSpc>
        <a:spcBef>
          <a:spcPts val="300"/>
        </a:spcBef>
        <a:spcAft>
          <a:spcPts val="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28800" indent="-228600" algn="l" defTabSz="914400">
        <a:lnSpc>
          <a:spcPct val="100000"/>
        </a:lnSpc>
        <a:spcBef>
          <a:spcPts val="300"/>
        </a:spcBef>
        <a:spcAft>
          <a:spcPts val="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indent="-228600" algn="l" defTabSz="914400">
        <a:lnSpc>
          <a:spcPct val="100000"/>
        </a:lnSpc>
        <a:spcBef>
          <a:spcPts val="300"/>
        </a:spcBef>
        <a:spcAft>
          <a:spcPts val="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xmlns:a="http://schemas.openxmlformats.org/drawingml/2006/main" val="F26B43"/>
          </p15:clr>
        </p15:guide>
        <p15:guide id="2" pos="288" userDrawn="1">
          <p15:clr>
            <a:srgbClr xmlns:a="http://schemas.openxmlformats.org/drawingml/2006/main" val="F26B43"/>
          </p15:clr>
        </p15:guide>
        <p15:guide id="3" pos="7392" userDrawn="1">
          <p15:clr>
            <a:srgbClr xmlns:a="http://schemas.openxmlformats.org/drawingml/2006/main" val="F26B43"/>
          </p15:clr>
        </p15:guide>
        <p15:guide id="4" orient="horz" pos="1008" userDrawn="1">
          <p15:clr>
            <a:srgbClr xmlns:a="http://schemas.openxmlformats.org/drawingml/2006/main" val="F26B43"/>
          </p15:clr>
        </p15:guide>
        <p15:guide id="5" orient="horz" pos="3888" userDrawn="1">
          <p15:clr>
            <a:srgbClr xmlns:a="http://schemas.openxmlformats.org/drawingml/2006/main" val="F26B43"/>
          </p15:clr>
        </p15:guide>
        <p15:guide id="6" orient="horz" pos="4176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Wells Fargo 2023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ells Fargo 2020 Color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2ffe9952e0c4a61" /><Relationship Type="http://schemas.openxmlformats.org/officeDocument/2006/relationships/notesSlide" Target="/ppt/notesSlides/notesSlide1.xml" Id="Rb65749eb07ee40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1f7bac67cd24162" /><Relationship Type="http://schemas.openxmlformats.org/officeDocument/2006/relationships/notesSlide" Target="/ppt/notesSlides/notesSlide2.xml" Id="R4eac35e70e904d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d726f4f8b34c01" /><Relationship Type="http://schemas.openxmlformats.org/officeDocument/2006/relationships/notesSlide" Target="/ppt/notesSlides/notesSlide3.xml" Id="R2d9fad3abb6844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4ef62e5da44cd" /><Relationship Type="http://schemas.openxmlformats.org/officeDocument/2006/relationships/notesSlide" Target="/ppt/notesSlides/notesSlide4.xml" Id="R8f1fdeea0d1743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4788ccd230438b" /><Relationship Type="http://schemas.openxmlformats.org/officeDocument/2006/relationships/notesSlide" Target="/ppt/notesSlides/notesSlide5.xml" Id="Rd8f0d3e1e26a4b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4aeafd3e7254233" /><Relationship Type="http://schemas.openxmlformats.org/officeDocument/2006/relationships/notesSlide" Target="/ppt/notesSlides/notesSlide6.xml" Id="Ra315c0343fc64f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26ca0b0dbb244f4" /><Relationship Type="http://schemas.openxmlformats.org/officeDocument/2006/relationships/notesSlide" Target="/ppt/notesSlides/notesSlide7.xml" Id="Rfd09f225d47c47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506d907fd7b4aa7" /><Relationship Type="http://schemas.openxmlformats.org/officeDocument/2006/relationships/notesSlide" Target="/ppt/notesSlides/notesSlide8.xml" Id="R0088b86838964f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9565482e9544428" /><Relationship Type="http://schemas.openxmlformats.org/officeDocument/2006/relationships/notesSlide" Target="/ppt/notesSlides/notesSlide9.xml" Id="Re4aef55830a144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f74ae55a3f547fe" /><Relationship Type="http://schemas.openxmlformats.org/officeDocument/2006/relationships/notesSlide" Target="/ppt/notesSlides/notesSlide10.xml" Id="Rfda33c833c074c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4d620fbd44e56" /><Relationship Type="http://schemas.openxmlformats.org/officeDocument/2006/relationships/notesSlide" Target="/ppt/notesSlides/notesSlide11.xml" Id="R6e6d549ea19e40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2b893ca60484541" /><Relationship Type="http://schemas.openxmlformats.org/officeDocument/2006/relationships/notesSlide" Target="/ppt/notesSlides/notesSlide12.xml" Id="R9acbbfd3dae440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030674bbcc40fe" /><Relationship Type="http://schemas.openxmlformats.org/officeDocument/2006/relationships/notesSlide" Target="/ppt/notesSlides/notesSlide13.xml" Id="Rce20f9ab2c3245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860b8e031d4b0b" /><Relationship Type="http://schemas.openxmlformats.org/officeDocument/2006/relationships/notesSlide" Target="/ppt/notesSlides/notesSlide14.xml" Id="R61cd0ed3b4e44a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9d06ab9b4645ed" /><Relationship Type="http://schemas.openxmlformats.org/officeDocument/2006/relationships/notesSlide" Target="/ppt/notesSlides/notesSlide15.xml" Id="R6f55207d55bf46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4074FC-0A51-25D2-AC4E-D169486EA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7366000" cy="25944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Horizon Bank Design Plugin</a:t>
            </a:r>
          </a:p>
          <a:p xmlns:a="http://schemas.openxmlformats.org/drawingml/2006/main">
            <a:r>
              <a:t>Use it. Understand it. Build from it.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EC21897-076C-4BC1-703C-06C3EA82926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3052287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35E0D-BC99-E249-8395-45F09862C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plugin. Two skills. One executable quality gate.</a:t>
            </a:r>
          </a:p>
        </p:txBody>
      </p:sp>
      <p:sp>
        <p:nvSpPr>
          <p:cNvPr id="10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201A2FCF-1E40-AB4A-BE7A-DBB2FD5C25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4000">
                <a:latin typeface="+mj-lt"/>
                <a:ea typeface="+mj-lt"/>
                <a:cs typeface="+mj-lt"/>
              </a:rPr>
              <a:t>A plugin is a bundle.</a:t>
            </a:r>
          </a:p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4000">
                <a:latin typeface="+mj-lt"/>
                <a:ea typeface="+mj-lt"/>
                <a:cs typeface="+mj-lt"/>
              </a:rPr>
              <a:t>Skills do the work.</a:t>
            </a:r>
          </a:p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4000">
                <a:latin typeface="+mj-lt"/>
                <a:ea typeface="+mj-lt"/>
                <a:cs typeface="+mj-lt"/>
              </a:rPr>
              <a:t>Python checks the result.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879EDF3F-8E17-411B-BCD0-DC3EA581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619" y="1608419"/>
            <a:ext cx="348587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9BE7AA-D348-1D28-5E78-33F2FB91D5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277224" y="1809523"/>
            <a:ext cx="3457575" cy="399636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latin typeface="Wells Fargo Sans SemiBold"/>
                <a:ea typeface="Wells Fargo Sans SemiBold"/>
                <a:cs typeface="Wells Fargo Sans SemiBold"/>
              </a:rPr>
              <a:t>BUILD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build-horizon-bank-ui creates and refactors.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b="1">
                <a:latin typeface="Wells Fargo Sans SemiBold"/>
                <a:ea typeface="Wells Fargo Sans SemiBold"/>
                <a:cs typeface="Wells Fargo Sans SemiBold"/>
              </a:rPr>
              <a:t>AUDIT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audit-horizon-bank-ui reviews without changing work.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b="1">
                <a:latin typeface="Wells Fargo Sans SemiBold"/>
                <a:ea typeface="Wells Fargo Sans SemiBold"/>
                <a:cs typeface="Wells Fargo Sans SemiBold"/>
              </a:rPr>
              <a:t>PYTHON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scripts/audit_horizon_ui.py scans source and can fail the run with --strict.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912D09E-BDF5-F548-AC13-46A41FFAE01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21810492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06FBFA-8F8F-834F-9562-3E4670E91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the outcome, not skill mechanics</a:t>
            </a:r>
          </a:p>
        </p:txBody>
      </p:sp>
      <p:sp>
        <p:nvSpPr>
          <p:cNvPr id="8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1C6C3401-DF85-BF41-B042-2872FEFF8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" indent="-20">
              <a:buNone/>
            </a:pPr>
            <a:r>
              <a:rPr b="1"/>
              <a:t>1. Start a fresh Codex task</a:t>
            </a:r>
            <a:r>
              <a:t> so the latest installed plugin can load.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2. </a:t>
            </a:r>
            <a:r>
              <a:t>Add @horizon-bank-design or say, “Use the Horizon Bank Design plugin.”</a:t>
            </a:r>
          </a:p>
          <a:p xmlns:a="http://schemas.openxmlformats.org/drawingml/2006/main">
            <a:pPr marL="28" indent="-20">
              <a:buNone/>
            </a:pPr>
            <a:r>
              <a:rPr b="1"/>
              <a:t>3. </a:t>
            </a:r>
            <a:r>
              <a:t>Describe the screen or flow, audience, must-show content, states, and deliverable.</a:t>
            </a:r>
          </a:p>
          <a:p xmlns:a="http://schemas.openxmlformats.org/drawingml/2006/main">
            <a:pPr>
              <a:buNone/>
            </a:pPr>
            <a:r>
              <a:rPr b="1"/>
              <a:t>A strong brief is four lines, not four pages:</a:t>
            </a:r>
          </a:p>
          <a:p xmlns:a="http://schemas.openxmlformats.org/drawingml/2006/main">
            <a:pPr marL="28" indent="-14">
              <a:buChar char="•"/>
            </a:pPr>
            <a:r>
              <a:t> Primary task · Must-show information · Edge states · Concept, code, or review</a:t>
            </a:r>
          </a:p>
        </p:txBody>
      </p:sp>
      <p:sp>
        <p:nvSpPr>
          <p:cNvPr id="6" name="Footnotes">
            <a:extLst xmlns:a="http://schemas.openxmlformats.org/drawingml/2006/main">
              <a:ext uri="{FF2B5EF4-FFF2-40B4-BE49-F238E27FC236}">
                <a16:creationId xmlns:a16="http://schemas.microsoft.com/office/drawing/2014/main" id="{9025FDCE-A0C6-D146-8106-380CC8A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sz="800"/>
              <a:t>Adapted from the Horizon Bank Design plugin two-page quickstart.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0A4A77-CDE6-F349-812D-A5F930E2BBFC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349905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4E0E60-603F-BF49-A279-4BBF4425C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formula, then iterate</a:t>
            </a:r>
          </a:p>
          <a:p xmlns:a="http://schemas.openxmlformats.org/drawingml/2006/main">
            <a:r>
              <a:t>Prompt formula from the quickstart</a:t>
            </a:r>
          </a:p>
        </p:txBody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F57F79A9-4A13-C749-8EE6-04D7E49E3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Use Horizon Bank Design to [create, adapt, or audit] a [screen or flow] for [audience]. Include [content and states]. Deliver [concept, code, or review].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Then iterate: “make it denser,” “show mobile,” “use less red,” “add edge states,” or “audit before we share.”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04DDD0C-87F3-0A43-A5A9-455F2A0D310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8989186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2FFB411-F4CD-C44D-9228-60AFD9C07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plugin is malleable by design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9351CA89-6C50-42B5-BE60-ED06EA8D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10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1F9D53-2CDD-EC80-A3D6-5904BC6B80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9105" y="1798813"/>
            <a:ext cx="5465445" cy="457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2400" i="1">
                <a:solidFill>
                  <a:schemeClr val="tx2"/>
                </a:solidFill>
              </a:rPr>
              <a:t>Shape the result</a:t>
            </a:r>
          </a:p>
          <a:p xmlns:a="http://schemas.openxmlformats.org/drawingml/2006/main">
            <a:pPr marL="0" indent="0">
              <a:lnSpc>
                <a:spcPct val="80000"/>
              </a:lnSpc>
              <a:spcBef>
                <a:spcPts val="2400"/>
              </a:spcBef>
              <a:buNone/>
            </a:pPr>
            <a:r>
              <a:rPr sz="17500">
                <a:latin typeface="+mj-lt"/>
                <a:ea typeface="+mj-lt"/>
                <a:cs typeface="+mj-lt"/>
              </a:rPr>
              <a:t>4</a:t>
            </a:r>
          </a:p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2400" i="1"/>
              <a:t>choices</a:t>
            </a:r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77A772-053D-3841-8C84-752EF151AE9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2">
              <a:buChar char="•"/>
            </a:pPr>
            <a:r>
              <a:rPr b="1"/>
              <a:t> STARTING POINT — </a:t>
            </a:r>
            <a:r>
              <a:t>blank brief, screenshot, wireframe, or existing code.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SURFACE — </a:t>
            </a:r>
            <a:r>
              <a:t>desktop web, responsive web, mobile concept, or internal tool.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DEPTH — </a:t>
            </a:r>
            <a:r>
              <a:t>concept, components, complete flow, implementation, or QA.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BANKING NEED + EMPHASIS — </a:t>
            </a:r>
            <a:r>
              <a:t>accounts, cards, transfers, lending, servicing, delegated payments; editorial, task-first, data-dense, or trust-focused.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949913F-ECA7-0E47-9AA8-E1536432A14B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2838052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AF2BF76-0B4E-654F-AFD6-72FC8323B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ideas to copy, paste, and remix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5991E0F7-CCAC-8C43-9D09-F6F778DAE5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828802"/>
            <a:ext cx="11277600" cy="274319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2">
              <a:buChar char="•"/>
            </a:pPr>
            <a:r>
              <a:rPr b="1"/>
              <a:t> DASHBOARD — </a:t>
            </a:r>
            <a:r>
              <a:t>responsive accounts, quick actions, activity, empty and error states.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CREDIT CARD — </a:t>
            </a:r>
            <a:r>
              <a:t>balance, available credit, due date, rewards, controls, mobile behavior.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VISUAL AUDIT — </a:t>
            </a:r>
            <a:r>
              <a:t>identity, hierarchy, financial clarity, interaction states, accessibility.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MONEY MOVEMENT — </a:t>
            </a:r>
            <a:r>
              <a:t>amount, review, confirmation, fees, timing, and recovery paths.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ADAPT EXISTING WORK — </a:t>
            </a:r>
            <a:r>
              <a:t>preserve information architecture; apply tokens, assets, and accessibility.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ADVANCED TRUST — </a:t>
            </a:r>
            <a:r>
              <a:t>requester, merchant, items, total, expiry, scope, approval, rejection, revocation.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E240073-20AC-8447-ADD3-81935451A59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6795771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AF2BF76-0B4E-654F-AFD6-72FC8323B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is behind the scenes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5991E0F7-CCAC-8C43-9D09-F6F778DAE5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828802"/>
            <a:ext cx="11277600" cy="274319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/>
              <a:t>GUIDANCE + ASSETS</a:t>
            </a:r>
          </a:p>
          <a:p xmlns:a="http://schemas.openxmlformats.org/drawingml/2006/main">
            <a:pPr marL="24" indent="-12">
              <a:buChar char="•"/>
            </a:pPr>
            <a:r>
              <a:t> Build and audit skills plus 6 reference guides.</a:t>
            </a:r>
          </a:p>
          <a:p xmlns:a="http://schemas.openxmlformats.org/drawingml/2006/main">
            <a:pPr marL="24" indent="-12">
              <a:buChar char="•"/>
            </a:pPr>
            <a:r>
              <a:t> CSS + JSON tokens, a full starter preview, and ordinary Horizon UI copy.</a:t>
            </a:r>
          </a:p>
          <a:p xmlns:a="http://schemas.openxmlformats.org/drawingml/2006/main">
            <a:pPr marL="24" indent="-12">
              <a:buChar char="•"/>
            </a:pPr>
            <a:r>
              <a:t> Logo family, Horizon Sans, 60 transparent SVG icons, and 7 stock photos.</a:t>
            </a:r>
          </a:p>
          <a:p xmlns:a="http://schemas.openxmlformats.org/drawingml/2006/main">
            <a:pPr>
              <a:buNone/>
            </a:pPr>
            <a:r>
              <a:rPr b="1"/>
              <a:t>PYTHON QUALITY GATE</a:t>
            </a:r>
          </a:p>
          <a:p xmlns:a="http://schemas.openxmlformats.org/drawingml/2006/main">
            <a:pPr marL="24" indent="-12">
              <a:buChar char="•"/>
            </a:pPr>
            <a:r>
              <a:t> audit_horizon_ui.py is shipped with both skills and scans common web source types.</a:t>
            </a:r>
          </a:p>
          <a:p xmlns:a="http://schemas.openxmlformats.org/drawingml/2006/main">
            <a:pPr marL="24" indent="-12">
              <a:buChar char="•"/>
            </a:pPr>
            <a:r>
              <a:t> Checks palette drift, HB identity errors, missing alt text, focus removal, zoom blocking, unsafe links, and more.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--strict</a:t>
            </a:r>
            <a:r>
              <a:t> fails on warnings; </a:t>
            </a:r>
            <a:r>
              <a:rPr b="1"/>
              <a:t>--json</a:t>
            </a:r>
            <a:r>
              <a:t> supports automation; </a:t>
            </a:r>
            <a:r>
              <a:rPr b="1"/>
              <a:t>--contrast</a:t>
            </a:r>
            <a:r>
              <a:t> calculates WCAG ratios.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E240073-20AC-8447-ADD3-81935451A59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6795771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35E0D-BC99-E249-8395-45F09862C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Accessibility guidance is a baseline, not a certification</a:t>
            </a:r>
          </a:p>
        </p:txBody>
      </p:sp>
      <p:sp>
        <p:nvSpPr>
          <p:cNvPr id="10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201A2FCF-1E40-AB4A-BE7A-DBB2FD5C25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4000">
                <a:latin typeface="+mj-lt"/>
                <a:ea typeface="+mj-lt"/>
                <a:cs typeface="+mj-lt"/>
              </a:rPr>
              <a:t>Guidance + preflight</a:t>
            </a:r>
          </a:p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4000">
                <a:latin typeface="+mj-lt"/>
                <a:ea typeface="+mj-lt"/>
                <a:cs typeface="+mj-lt"/>
              </a:rPr>
              <a:t>≠</a:t>
            </a:r>
          </a:p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4000">
                <a:latin typeface="+mj-lt"/>
                <a:ea typeface="+mj-lt"/>
                <a:cs typeface="+mj-lt"/>
              </a:rPr>
              <a:t>proof of conformance.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879EDF3F-8E17-411B-BCD0-DC3EA581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619" y="1608419"/>
            <a:ext cx="348587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9BE7AA-D348-1D28-5E78-33F2FB91D5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277224" y="1809523"/>
            <a:ext cx="3457575" cy="399636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latin typeface="Wells Fargo Sans SemiBold"/>
                <a:ea typeface="Wells Fargo Sans SemiBold"/>
                <a:cs typeface="Wells Fargo Sans SemiBold"/>
              </a:rPr>
              <a:t>THE PLUGIN PROVIDES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WCAG 2.2 AA-oriented guidance, semantic patterns, focus and contrast reminders, state coverage, content guidance, and obvious-hazard checks.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b="1">
                <a:latin typeface="Wells Fargo Sans SemiBold"/>
                <a:ea typeface="Wells Fargo Sans SemiBold"/>
                <a:cs typeface="Wells Fargo Sans SemiBold"/>
              </a:rPr>
              <a:t>IT DOES NOT REPLACE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Accessibility specialists, assistive-technology testing, research with people with disabilities, legal review, or final product ownership.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912D09E-BDF5-F548-AC13-46A41FFAE01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2181049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06FBFA-8F8F-834F-9562-3E4670E91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captured the source practice, then distilled and tested it</a:t>
            </a:r>
          </a:p>
        </p:txBody>
      </p:sp>
      <p:sp>
        <p:nvSpPr>
          <p:cNvPr id="8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1C6C3401-DF85-BF41-B042-2872FEFF8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" indent="-20">
              <a:buNone/>
            </a:pPr>
            <a:r>
              <a:rPr b="1"/>
              <a:t>1. Capture source practice. </a:t>
            </a:r>
            <a:r>
              <a:t>Build the Wells Fargo Design plugin first to encode real patterns, assets, edge cases, and review expectations.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2. Distill deliberately. </a:t>
            </a:r>
            <a:r>
              <a:t>Translate the transferable system into Horizon Bank: design logic, typography, color, components, content, assets, and validation.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3. Separate identity. </a:t>
            </a:r>
            <a:r>
              <a:t>Remove direct Wells Fargo identity from Horizon outputs.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4. Exercise it. </a:t>
            </a:r>
            <a:r>
              <a:t>Ask agents to build, audit, render, and inspect varied work.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5. Close the loop. </a:t>
            </a:r>
            <a:r>
              <a:t>Feed real failures back into guidance, examples, assets, or deterministic checks.</a:t>
            </a:r>
          </a:p>
        </p:txBody>
      </p:sp>
      <p:sp>
        <p:nvSpPr>
          <p:cNvPr id="6" name="Footnotes">
            <a:extLst xmlns:a="http://schemas.openxmlformats.org/drawingml/2006/main">
              <a:ext uri="{FF2B5EF4-FFF2-40B4-BE49-F238E27FC236}">
                <a16:creationId xmlns:a16="http://schemas.microsoft.com/office/drawing/2014/main" id="{9025FDCE-A0C6-D146-8106-380CC8A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sz="800"/>
              <a:t>Observe faithfully -&gt; abstract intentionally -&gt; test repeatedly.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0A4A77-CDE6-F349-812D-A5F930E2BBFC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499057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AF2BF76-0B4E-654F-AFD6-72FC8323B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 are portable; plugin and extension bundles are platform-specific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5991E0F7-CCAC-8C43-9D09-F6F778DAE5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828802"/>
            <a:ext cx="11277600" cy="274319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/>
              <a:t>PLUGIN / EXTENSION BUNDLES</a:t>
            </a:r>
          </a:p>
          <a:p xmlns:a="http://schemas.openxmlformats.org/drawingml/2006/main">
            <a:pPr>
              <a:buNone/>
            </a:pPr>
            <a:r>
              <a:rPr b="1"/>
              <a:t>Codex — </a:t>
            </a:r>
            <a:r>
              <a:t>plugins + skills</a:t>
            </a:r>
          </a:p>
          <a:p xmlns:a="http://schemas.openxmlformats.org/drawingml/2006/main">
            <a:pPr>
              <a:buNone/>
            </a:pPr>
            <a:r>
              <a:rPr b="1"/>
              <a:t>Claude Code — </a:t>
            </a:r>
            <a:r>
              <a:t>plugins + skills</a:t>
            </a:r>
          </a:p>
          <a:p xmlns:a="http://schemas.openxmlformats.org/drawingml/2006/main">
            <a:pPr>
              <a:buNone/>
            </a:pPr>
            <a:r>
              <a:rPr b="1"/>
              <a:t>Cursor — </a:t>
            </a:r>
            <a:r>
              <a:t>plugins + skills</a:t>
            </a:r>
          </a:p>
          <a:p xmlns:a="http://schemas.openxmlformats.org/drawingml/2006/main">
            <a:pPr>
              <a:buNone/>
            </a:pPr>
            <a:r>
              <a:rPr b="1"/>
              <a:t>OpenCode — </a:t>
            </a:r>
            <a:r>
              <a:t>plugin API + skills</a:t>
            </a:r>
          </a:p>
          <a:p xmlns:a="http://schemas.openxmlformats.org/drawingml/2006/main">
            <a:pPr>
              <a:buNone/>
            </a:pPr>
            <a:r>
              <a:rPr b="1"/>
              <a:t>Gemini CLI — </a:t>
            </a:r>
            <a:r>
              <a:t>extensions + skills</a:t>
            </a:r>
          </a:p>
          <a:p xmlns:a="http://schemas.openxmlformats.org/drawingml/2006/main">
            <a:pPr>
              <a:buNone/>
            </a:pPr>
            <a:r>
              <a:rPr b="1"/>
              <a:t>STANDALONE SKILLS</a:t>
            </a:r>
          </a:p>
          <a:p xmlns:a="http://schemas.openxmlformats.org/drawingml/2006/main">
            <a:pPr>
              <a:buNone/>
            </a:pPr>
            <a:r>
              <a:rPr b="1"/>
              <a:t>Devin · Google Antigravity · GitHub Copilot</a:t>
            </a:r>
          </a:p>
          <a:p xmlns:a="http://schemas.openxmlformats.org/drawingml/2006/main">
            <a:pPr>
              <a:buNone/>
            </a:pPr>
            <a:r>
              <a:t>Official-documentation snapshot · July 27, 2026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E240073-20AC-8447-ADD3-81935451A59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6795771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4E0E60-603F-BF49-A279-4BBF4425C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1 - assume intelligence</a:t>
            </a:r>
          </a:p>
          <a:p xmlns:a="http://schemas.openxmlformats.org/drawingml/2006/main">
            <a:r>
              <a:t>Encode intent, not model limitations</a:t>
            </a:r>
          </a:p>
        </p:txBody>
      </p:sp>
      <p:sp>
        <p:nvSpPr>
          <p:cNvPr id="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F57F79A9-4A13-C749-8EE6-04D7E49E3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Assume the model can do the work. Teach it what good must accomplish, the SME's house way, the obvious or expensive pitfalls, and the evidence required before it stops.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Do not freeze guidance around today's model limitations.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04DDD0C-87F3-0A43-A5A9-455F2A0D310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38989186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35E0D-BC99-E249-8395-45F09862C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2 - a skill needs an accountable SME owner</a:t>
            </a:r>
          </a:p>
        </p:txBody>
      </p:sp>
      <p:sp>
        <p:nvSpPr>
          <p:cNvPr id="10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201A2FCF-1E40-AB4A-BE7A-DBB2FD5C25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4000">
                <a:latin typeface="+mj-lt"/>
                <a:ea typeface="+mj-lt"/>
                <a:cs typeface="+mj-lt"/>
              </a:rPr>
              <a:t>If you cannot recognize the right answer,</a:t>
            </a:r>
          </a:p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4000">
                <a:latin typeface="+mj-lt"/>
                <a:ea typeface="+mj-lt"/>
                <a:cs typeface="+mj-lt"/>
              </a:rPr>
              <a:t>you cannot own the skill.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879EDF3F-8E17-411B-BCD0-DC3EA581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619" y="1608419"/>
            <a:ext cx="348587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9BE7AA-D348-1D28-5E78-33F2FB91D5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277224" y="1809523"/>
            <a:ext cx="3457575" cy="399636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latin typeface="Wells Fargo Sans SemiBold"/>
                <a:ea typeface="Wells Fargo Sans SemiBold"/>
                <a:cs typeface="Wells Fargo Sans SemiBold"/>
              </a:rPr>
              <a:t>ASK YOURSELF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Are you the subject-matter expert?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Do you own final signoff?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Can you distinguish acceptable from excellent?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Can you resolve edge cases and conflicting guidance?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Wells Fargo Sans SemiBold"/>
                <a:ea typeface="Wells Fargo Sans SemiBold"/>
                <a:cs typeface="Wells Fargo Sans SemiBold"/>
              </a:rPr>
              <a:t>If not, co-author with the person who can.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912D09E-BDF5-F548-AC13-46A41FFAE01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218104922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06FBFA-8F8F-834F-9562-3E4670E91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3 - review the whole system, not only the happy path</a:t>
            </a:r>
          </a:p>
        </p:txBody>
      </p:sp>
      <p:sp>
        <p:nvSpPr>
          <p:cNvPr id="8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1C6C3401-DF85-BF41-B042-2872FEFF8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/>
              <a:t>Test across: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Surfaces — </a:t>
            </a:r>
            <a:r>
              <a:t>web, mobile, slides, documents, screenshots.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Viewports — </a:t>
            </a:r>
            <a:r>
              <a:t>wide, narrow, zoomed, long content.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States — </a:t>
            </a:r>
            <a:r>
              <a:t>loading, empty, error, success, interrupted, recovery.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Themes + modes — </a:t>
            </a:r>
            <a:r>
              <a:t>light, dark, image-backed, data-dense; build, refactor, audit.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Agents — </a:t>
            </a:r>
            <a:r>
              <a:t>different models and tool combinations.</a:t>
            </a:r>
          </a:p>
          <a:p xmlns:a="http://schemas.openxmlformats.org/drawingml/2006/main">
            <a:pPr>
              <a:buNone/>
            </a:pPr>
            <a:r>
              <a:rPr b="1"/>
              <a:t>Review identity, assets, typography, content, behavior, and deterministic evidence together.</a:t>
            </a:r>
          </a:p>
        </p:txBody>
      </p:sp>
      <p:sp>
        <p:nvSpPr>
          <p:cNvPr id="6" name="Footnotes">
            <a:extLst xmlns:a="http://schemas.openxmlformats.org/drawingml/2006/main">
              <a:ext uri="{FF2B5EF4-FFF2-40B4-BE49-F238E27FC236}">
                <a16:creationId xmlns:a16="http://schemas.microsoft.com/office/drawing/2014/main" id="{9025FDCE-A0C6-D146-8106-380CC8A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sz="800"/>
              <a:t>Visual and asset review caught yellow-on-white text, icon white plates, wordmark weight/scale drift, and an under-scoped preview page.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0A4A77-CDE6-F349-812D-A5F930E2BBFC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3499057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2FFB411-F4CD-C44D-9228-60AFD9C07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4 - deterministic feedback loops extend agent autonomy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9351CA89-6C50-42B5-BE60-ED06EA8D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10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D1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1F9D53-2CDD-EC80-A3D6-5904BC6B80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9105" y="1798813"/>
            <a:ext cx="5465445" cy="457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2400" i="1">
                <a:solidFill>
                  <a:schemeClr val="tx2"/>
                </a:solidFill>
              </a:rPr>
              <a:t>Agent self-check</a:t>
            </a:r>
          </a:p>
          <a:p xmlns:a="http://schemas.openxmlformats.org/drawingml/2006/main">
            <a:pPr marL="0" indent="0">
              <a:lnSpc>
                <a:spcPct val="80000"/>
              </a:lnSpc>
              <a:spcBef>
                <a:spcPts val="2400"/>
              </a:spcBef>
              <a:buNone/>
            </a:pPr>
            <a:r>
              <a:rPr sz="17500">
                <a:latin typeface="+mj-lt"/>
                <a:ea typeface="+mj-lt"/>
                <a:cs typeface="+mj-lt"/>
              </a:rPr>
              <a:t>5</a:t>
            </a:r>
          </a:p>
          <a:p xmlns:a="http://schemas.openxmlformats.org/drawingml/2006/main"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sz="2400" i="1"/>
              <a:t>steps</a:t>
            </a:r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77A772-053D-3841-8C84-752EF151AE9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" indent="-20">
              <a:buNone/>
            </a:pPr>
            <a:r>
              <a:rPr b="1"/>
              <a:t>1. INTERPRET — </a:t>
            </a:r>
            <a:r>
              <a:t>translate the ask into explicit constraints.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2. CREATE — </a:t>
            </a:r>
            <a:r>
              <a:t>produce the smallest complete artifact.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3. CHECK — </a:t>
            </a:r>
            <a:r>
              <a:t>run schema, lint, source, asset, contrast, and regression validators.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4. INSPECT — </a:t>
            </a:r>
            <a:r>
              <a:t>render and review behavior and visual output.</a:t>
            </a:r>
          </a:p>
          <a:p xmlns:a="http://schemas.openxmlformats.org/drawingml/2006/main">
            <a:pPr marL="28" indent="-20">
              <a:buNone/>
            </a:pPr>
            <a:r>
              <a:rPr b="1"/>
              <a:t>5. IMPROVE — </a:t>
            </a:r>
            <a:r>
              <a:t>fix, rerun, and feed the learning back into the skill.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PROGRAMMATIC — </a:t>
            </a:r>
            <a:r>
              <a:t>stable, repeatable gates.</a:t>
            </a:r>
          </a:p>
          <a:p xmlns:a="http://schemas.openxmlformats.org/drawingml/2006/main">
            <a:pPr marL="24" indent="-12">
              <a:buChar char="•"/>
            </a:pPr>
            <a:r>
              <a:rPr b="1"/>
              <a:t> HUMAN / SME — </a:t>
            </a:r>
            <a:r>
              <a:t>intent, trust, usability, and final acceptance.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949913F-ECA7-0E47-9AA8-E1536432A14B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28380521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4074FC-0A51-25D2-AC4E-D169486EA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7366000" cy="25944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brings intelligence.</a:t>
            </a:r>
          </a:p>
          <a:p xmlns:a="http://schemas.openxmlformats.org/drawingml/2006/main">
            <a:r>
              <a:t>The skill brings your way of working.</a:t>
            </a:r>
          </a:p>
          <a:p xmlns:a="http://schemas.openxmlformats.org/drawingml/2006/main">
            <a:r>
              <a:t>Build for composition, testing, and continuous SME ownership.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EC21897-076C-4BC1-703C-06C3EA82926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3305228716"/>
      </p:ext>
    </p:extLst>
  </p:cSld>
</p:sld>
</file>

<file path=ppt/theme/theme1.xml><?xml version="1.0" encoding="utf-8"?>
<a:theme xmlns:a="http://schemas.openxmlformats.org/drawingml/2006/main" name="Wells Fargo 2023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ells Fargo 2020 Color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2026-07-27T16:54:17.6730000Z</dcterms:created>
  <dcterms:modified xsi:type="dcterms:W3CDTF">2026-07-27T16:54:17.6730000Z</dcterms:modified>
</coreProperties>
</file>