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outcome: this is not merely a brand kit. It is a worked example of turning expert judgment into reusable agent behavior.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/Users/rameshyarlagadda/.codex/plugins/cache/personal/horizon-bank-design/1.0.0+codex.20260727155802/skills/build-horizon-bank-ui/assets/logos/horizon-bank-wordmark-white.svg</a:t>
            </a:r>
          </a:p>
          <a:p>
            <a:r>
              <a:t>- /Users/rameshyarlagadda/.codex/plugins/cache/personal/horizon-bank-design/1.0.0+codex.20260727155802/skills/build-horizon-bank-ui/assets/stock/entrepreneurship.jpg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sequence. Horizon Bank is not a loose reskin: it was derived after the source design practice was captured, then rebuilt as a synthetic stand-in and tested by agents.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/Users/rameshyarlagadda/.codex/plugins/cache/personal/horizon-bank-design/1.0.0+codex.20260727155802/.codex-plugin/plugin.json</a:t>
            </a:r>
          </a:p>
          <a:p>
            <a:r>
              <a:t>- /Users/rameshyarlagadda/.codex/plugins/cache/personal/horizon-bank-design/1.0.0+codex.20260727155802/skills/build-horizon-bank-ui/SKILL.md</a:t>
            </a:r>
          </a:p>
          <a:p>
            <a:r>
              <a:t>- /Users/rameshyarlagadda/.codex/plugins/cache/personal/horizon-bank-design/1.0.0+codex.20260727155802/skills/audit-horizon-bank-ui/SKILL.md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demystify the packaging. The value comes from the relationship between guidance, assets, validators, and examples—not from any one instruction file.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/Users/rameshyarlagadda/.codex/plugins/cache/personal/horizon-bank-design/1.0.0+codex.20260727155802/.codex-plugin/plugin.json</a:t>
            </a:r>
          </a:p>
          <a:p>
            <a:r>
              <a:t>- /Users/rameshyarlagadda/.codex/plugins/cache/personal/horizon-bank-design/1.0.0+codex.20260727155802/skills/build-horizon-bank-ui/references</a:t>
            </a:r>
          </a:p>
          <a:p>
            <a:r>
              <a:t>- /Users/rameshyarlagadda/.codex/plugins/cache/personal/horizon-bank-design/1.0.0+codex.20260727155802/skills/build-horizon-bank-ui/assets</a:t>
            </a:r>
          </a:p>
          <a:p>
            <a:r>
              <a:t>- /Users/rameshyarlagadda/.codex/plugins/cache/personal/horizon-bank-design/1.0.0+codex.20260727155802/skills/build-horizon-bank-ui/scripts/audit_horizon_ui.py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this boundary plainly. The skill raises the floor and helps agents avoid common mistakes, but accessibility remains a specialist and product-owner responsibility.</a:t>
            </a:r>
          </a:p>
          <a:p>
            <a:endParaRPr/>
          </a:p>
          <a:p>
            <a:r>
              <a:t>[Sources]</a:t>
            </a:r>
          </a:p>
          <a:p>
            <a:r>
              <a:t>- https://www.w3.org/TR/WCAG22/</a:t>
            </a:r>
          </a:p>
          <a:p>
            <a:r>
              <a:t>- /Users/rameshyarlagadda/.codex/plugins/cache/personal/horizon-bank-design/1.0.0+codex.20260727155802/skills/build-horizon-bank-ui/references/accessibility-and-content.md</a:t>
            </a:r>
          </a:p>
          <a:p>
            <a:r>
              <a:t>- /Users/rameshyarlagadda/.codex/plugins/cache/personal/horizon-bank-design/1.0.0+codex.20260727155802/skills/audit-horizon-bank-ui/references/review-checklist.md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this as a dated market snapshot. Skills use a converging open format; packaging differs. Treat extensions as the Gemini CLI equivalent of a plugin bundle for this comparison.</a:t>
            </a:r>
          </a:p>
          <a:p>
            <a:endParaRPr/>
          </a:p>
          <a:p>
            <a:r>
              <a:t>[Sources]</a:t>
            </a:r>
          </a:p>
          <a:p>
            <a:r>
              <a:t>- https://help.openai.com/en/articles/20001256-plugins-in-codex/</a:t>
            </a:r>
          </a:p>
          <a:p>
            <a:r>
              <a:t>- https://openai.com/codex/</a:t>
            </a:r>
          </a:p>
          <a:p>
            <a:r>
              <a:t>- https://code.claude.com/docs/en/plugins</a:t>
            </a:r>
          </a:p>
          <a:p>
            <a:r>
              <a:t>- https://code.claude.com/docs/en/slash-commands</a:t>
            </a:r>
          </a:p>
          <a:p>
            <a:r>
              <a:t>- https://cursor.com/blog/marketplace</a:t>
            </a:r>
          </a:p>
          <a:p>
            <a:r>
              <a:t>- https://cursor.com/changelog/2-4</a:t>
            </a:r>
          </a:p>
          <a:p>
            <a:r>
              <a:t>- https://opencode.ai/docs/skills</a:t>
            </a:r>
          </a:p>
          <a:p>
            <a:r>
              <a:t>- https://opencode.ai/v2/docs/build/plugins</a:t>
            </a:r>
          </a:p>
          <a:p>
            <a:r>
              <a:t>- https://github.com/google-gemini/gemini-cli/blob/main/docs/extensions/index.md</a:t>
            </a:r>
          </a:p>
          <a:p>
            <a:r>
              <a:t>- https://github.com/google-gemini/gemini-cli/blob/main/docs/extensions/reference.md</a:t>
            </a:r>
          </a:p>
          <a:p>
            <a:r>
              <a:t>- https://docs.devin.ai/product-guides/skills</a:t>
            </a:r>
          </a:p>
          <a:p>
            <a:r>
              <a:t>- https://codelabs.developers.google.com/getting-started-with-antigravity-skills</a:t>
            </a:r>
          </a:p>
          <a:p>
            <a:r>
              <a:t>- https://docs.github.com/en/copilot/concepts/agents/about-agent-skills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central design principle. A skill should not be a catalog of what a model cannot do. It should encode intent, quality, constraints, and validation in a way that remains useful as intelligence improves.</a:t>
            </a:r>
          </a:p>
          <a:p>
            <a:endParaRPr/>
          </a:p>
          <a:p>
            <a:r>
              <a:t>[Sources]</a:t>
            </a:r>
          </a:p>
          <a:p>
            <a:r>
              <a:t>- https://openai.com/index/codex-for-every-role-tool-workflow/</a:t>
            </a:r>
          </a:p>
          <a:p>
            <a:r>
              <a:t>- https://docs.devin.ai/product-guides/skills</a:t>
            </a:r>
          </a:p>
          <a:p>
            <a:r>
              <a:t>- /Users/rameshyarlagadda/.codex/plugins/cache/personal/horizon-bank-design/1.0.0+codex.20260727155802/skills/build-horizon-bank-ui/assets/icons/icon-artificial-intelligence-rgb.svg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skill externalizes expert judgment. If nobody can own the quality bar, the artifact may be tidy but it will not be trustworthy.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/Users/rameshyarlagadda/.codex/plugins/cache/personal/horizon-bank-design/1.0.0+codex.20260727155802/skills/build-horizon-bank-ui/SKILL.md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concrete Horizon Bank iteration examples to make exhaustive review tangible. These were not abstract concerns; they were discovered by visual inspection and asset-level review.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/Users/rameshyarlagadda/.codex/plugins/cache/personal/horizon-bank-design/1.0.0+codex.20260727155802/skills/build-horizon-bank-ui/assets/starter/horizon-starter-preview.html</a:t>
            </a:r>
          </a:p>
          <a:p>
            <a:r>
              <a:t>- /Users/rameshyarlagadda/.codex/plugins/cache/personal/horizon-bank-design/1.0.0+codex.20260727155802/skills/build-horizon-bank-ui/references/asset-catalog.md</a:t>
            </a:r>
          </a:p>
          <a:p>
            <a:r>
              <a:t>- /Users/rameshyarlagadda/.codex/plugins/cache/personal/horizon-bank-design/1.0.0+codex.20260727155802/skills/audit-horizon-bank-ui/scripts/audit_horizon_ui.py</a:t>
            </a:r>
          </a:p>
          <a:p>
            <a:r>
              <a:t>- /Users/rameshyarlagadda/.codex/plugins/cache/personal/horizon-bank-design/1.0.0+codex.20260727155802/skills/build-horizon-bank-ui/assets/icons/icon-alert-rgb-f1.svg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highest-leverage agentic workflows provide the agent a deterministic loop: create, test, inspect, fix. Keep human judgment for the things that cannot be reduced to a stable check.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/Users/rameshyarlagadda/.codex/plugins/cache/personal/horizon-bank-design/1.0.0+codex.20260727155802/skills/build-horizon-bank-ui/scripts/audit_horizon_ui.py</a:t>
            </a:r>
          </a:p>
          <a:p>
            <a:r>
              <a:t>- /Users/rameshyarlagadda/.codex/plugins/cache/personal/horizon-bank-design/1.0.0+codex.20260727155802/skills/audit-horizon-bank-ui/references/review-checklist.md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recreate Playwright expertise inside a design plugin. State the handoff and expect users or agents to combine compatible skills. This reduces duplication and lets each skill improve independently.</a:t>
            </a:r>
          </a:p>
          <a:p>
            <a:endParaRPr/>
          </a:p>
          <a:p>
            <a:r>
              <a:t>[Sources]</a:t>
            </a:r>
          </a:p>
          <a:p>
            <a:r>
              <a:t>- https://help.openai.com/en/articles/20001256-plugins-in-codex/</a:t>
            </a:r>
          </a:p>
          <a:p>
            <a:r>
              <a:t>- https://code.claude.com/docs/en/plugins</a:t>
            </a:r>
          </a:p>
          <a:p>
            <a:r>
              <a:t>- https://cursor.com/blog/marketplace</a:t>
            </a:r>
          </a:p>
          <a:p>
            <a:r>
              <a:t>- https://github.com/google-gemini/gemini-cli/blob/main/docs/extensions/index.md</a:t>
            </a:r>
          </a:p>
          <a:p>
            <a:r>
              <a:t>- /Users/rameshyarlagadda/.codex/plugins/cache/personal/horizon-bank-design/1.0.0+codex.20260727155802/skills/build-horizon-bank-ui/assets/icons/icon-artificial-intelligence-rgb.svg</a:t>
            </a:r>
          </a:p>
          <a:p>
            <a:r>
              <a:t>- /Users/rameshyarlagadda/.codex/plugins/cache/personal/horizon-bank-design/1.0.0+codex.20260727155802/skills/build-horizon-bank-ui/assets/icons/icon-binoculars-rgb-f1.svg</a:t>
            </a:r>
          </a:p>
          <a:p>
            <a:r>
              <a:t>- /Users/rameshyarlagadda/.codex/plugins/cache/personal/horizon-bank-design/1.0.0+codex.20260727155802/skills/build-horizon-bank-ui/assets/icons/icon-checkmark-rgb-f1.svg</a:t>
            </a:r>
          </a:p>
          <a:p>
            <a:r>
              <a:t>- /Users/rameshyarlagadda/.codex/plugins/cache/personal/horizon-bank-design/1.0.0+codex.20260727155802/skills/build-horizon-bank-ui/assets/icons/icon-dataanalytics.svg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an invitation: start from actual SME decisions, build the feedback loop, and keep ownership. The point is not to constrain the model; it is to make expert intent durable and repeatable.</a:t>
            </a:r>
          </a:p>
          <a:p>
            <a:endParaRPr/>
          </a:p>
          <a:p>
            <a:r>
              <a:t>[Sources]</a:t>
            </a:r>
          </a:p>
          <a:p>
            <a:r>
              <a:t>- /Users/rameshyarlagadda/.codex/plugins/cache/personal/horizon-bank-design/1.0.0+codex.20260727155802/skills/build-horizon-bank-ui/assets/logos/horizon-bank-wordmark-white.svg</a:t>
            </a:r>
          </a:p>
          <a:p>
            <a:r>
              <a:t>- /Users/rameshyarlagadda/.codex/plugins/cache/personal/horizon-bank-design/1.0.0+codex.20260727155802/skills/build-horizon-bank-ui/assets/stock/family-travel.jpg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25676" r="25676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67F0DD-AD42-4606-B181-E486B92CEC3F}"/>
              </a:ext>
            </a:extLst>
          </p:cNvPr>
          <p:cNvSpPr>
            <a:spLocks noGrp="1"/>
          </p:cNvSpPr>
          <p:nvPr/>
        </p:nvSpPr>
        <p:spPr>
          <a:xfrm>
            <a:off x="6477000" y="0"/>
            <a:ext cx="1333500" cy="6858000"/>
          </a:xfrm>
          <a:prstGeom prst="rect">
            <a:avLst/>
          </a:prstGeom>
          <a:gradFill>
            <a:gsLst>
              <a:gs pos="0">
                <a:srgbClr val="B01C2E"/>
              </a:gs>
              <a:gs pos="100000">
                <a:srgbClr val="B01C2E">
                  <a:alpha val="6275"/>
                </a:srgbClr>
              </a:gs>
            </a:gsLst>
            <a:lin ang="0"/>
          </a:gradFill>
          <a:ln w="0">
            <a:noFill/>
            <a:prstDash val="solid"/>
          </a:ln>
        </p:spPr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5800" y="590550"/>
            <a:ext cx="2590800" cy="3714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58CA93-5A40-4ADA-AD53-0358CB540E5C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8578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Horizon Bank</a:t>
            </a:r>
          </a:p>
          <a:p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Plugin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3019A-4936-4EC3-AF1E-768EA040EC0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1352550" cy="7620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28147-3339-4BA8-AED3-19A3F259AAF3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334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Externalizing SME judgment into reusable agent guidance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12DD0-AC31-4D1B-A09B-5DFF0CBC4F3E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552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 i="0">
                <a:solidFill>
                  <a:srgbClr val="FCEFF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CEFF1"/>
                </a:solidFill>
                <a:latin typeface="Arial"/>
                <a:ea typeface="Arial"/>
                <a:cs typeface="Arial"/>
              </a:rPr>
              <a:t>A practical playbook for building, reviewing, validating, and composing skills and plugins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AECD8-2D2B-44D8-AC09-3F0F3B15DA0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61970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60343A1-E59D-4BD3-A392-7A9FEAF037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F7EDA0-0503-4B1F-B1C3-2ABEB9999D70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HORIZON BANK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DA8D40-FCF3-4510-90BF-5AD7A0CCA692}"/>
              </a:ext>
            </a:extLst>
          </p:cNvPr>
          <p:cNvSpPr>
            <a:spLocks noGrp="1"/>
          </p:cNvSpPr>
          <p:nvPr/>
        </p:nvSpPr>
        <p:spPr>
          <a:xfrm>
            <a:off x="10953750" y="2476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CA6633-ABDF-45AE-A2F2-D123912980E4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useful artifact came from a deliberate distillation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9FA29D-56D9-4D62-AD93-F7B4FFDA2598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AC39E1-109C-4872-BFD0-51B8B2D09C2D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3048000" cy="3333750"/>
          </a:xfrm>
          <a:prstGeom prst="rect">
            <a:avLst/>
          </a:prstGeom>
          <a:solidFill>
            <a:srgbClr val="B01C2E"/>
          </a:solidFill>
          <a:ln w="0">
            <a:solidFill>
              <a:srgbClr val="B01C2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C417F8-259F-4977-B616-5BF78AE594AE}"/>
              </a:ext>
            </a:extLst>
          </p:cNvPr>
          <p:cNvSpPr>
            <a:spLocks noGrp="1"/>
          </p:cNvSpPr>
          <p:nvPr/>
        </p:nvSpPr>
        <p:spPr>
          <a:xfrm>
            <a:off x="933450" y="2667000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5BA8D7-60EB-48B9-AC41-AC946B7E489B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251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the source practice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F0CF2-E0E4-46F8-9EEF-CAA1448BFD98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Wells Fargo Design plugin first—collect the actual patterns, assets, edge cases, and review expectations.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A863C0-85BE-4078-82B7-93DEF07026BE}"/>
              </a:ext>
            </a:extLst>
          </p:cNvPr>
          <p:cNvSpPr>
            <a:spLocks noGrp="1"/>
          </p:cNvSpPr>
          <p:nvPr/>
        </p:nvSpPr>
        <p:spPr>
          <a:xfrm>
            <a:off x="4286250" y="2428875"/>
            <a:ext cx="3048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4FC43D-C88A-43E5-9ACD-77B9AC3380F9}"/>
              </a:ext>
            </a:extLst>
          </p:cNvPr>
          <p:cNvSpPr>
            <a:spLocks noGrp="1"/>
          </p:cNvSpPr>
          <p:nvPr/>
        </p:nvSpPr>
        <p:spPr>
          <a:xfrm>
            <a:off x="4533900" y="2667000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07A35D-BBF9-4D71-AB79-8C95AA693C70}"/>
              </a:ext>
            </a:extLst>
          </p:cNvPr>
          <p:cNvSpPr>
            <a:spLocks noGrp="1"/>
          </p:cNvSpPr>
          <p:nvPr/>
        </p:nvSpPr>
        <p:spPr>
          <a:xfrm>
            <a:off x="4533900" y="3409950"/>
            <a:ext cx="251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Distill the transferable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E49B80-2FEE-45FD-8489-5442BDA99ABD}"/>
              </a:ext>
            </a:extLst>
          </p:cNvPr>
          <p:cNvSpPr>
            <a:spLocks noGrp="1"/>
          </p:cNvSpPr>
          <p:nvPr/>
        </p:nvSpPr>
        <p:spPr>
          <a:xfrm>
            <a:off x="4533900" y="4305300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09"/>
          </a:bodyPr>
          <a:lstStyle/>
          <a:p>
            <a:pPr algn="l">
              <a:lnSpc>
                <a:spcPct val="122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Remove direct brand identity and keep the design logic: typography, color behavior, component guidance, content rules, and validation.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AA63BD-2931-49CF-B93E-049955F82459}"/>
              </a:ext>
            </a:extLst>
          </p:cNvPr>
          <p:cNvSpPr>
            <a:spLocks noGrp="1"/>
          </p:cNvSpPr>
          <p:nvPr/>
        </p:nvSpPr>
        <p:spPr>
          <a:xfrm>
            <a:off x="7886700" y="2428875"/>
            <a:ext cx="3048000" cy="3333750"/>
          </a:xfrm>
          <a:prstGeom prst="rect">
            <a:avLst/>
          </a:prstGeom>
          <a:solidFill>
            <a:srgbClr val="4D4F91"/>
          </a:solidFill>
          <a:ln w="0">
            <a:solidFill>
              <a:srgbClr val="4D4F9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EA1195-2378-48A8-825F-FACD322863DC}"/>
              </a:ext>
            </a:extLst>
          </p:cNvPr>
          <p:cNvSpPr>
            <a:spLocks noGrp="1"/>
          </p:cNvSpPr>
          <p:nvPr/>
        </p:nvSpPr>
        <p:spPr>
          <a:xfrm>
            <a:off x="8134350" y="2667000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DC022A-FB48-4153-8398-B8B46BF336D0}"/>
              </a:ext>
            </a:extLst>
          </p:cNvPr>
          <p:cNvSpPr>
            <a:spLocks noGrp="1"/>
          </p:cNvSpPr>
          <p:nvPr/>
        </p:nvSpPr>
        <p:spPr>
          <a:xfrm>
            <a:off x="8134350" y="3409950"/>
            <a:ext cx="2514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with agents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3BA076-36B2-4CFE-A079-B8C50747F8F9}"/>
              </a:ext>
            </a:extLst>
          </p:cNvPr>
          <p:cNvSpPr>
            <a:spLocks noGrp="1"/>
          </p:cNvSpPr>
          <p:nvPr/>
        </p:nvSpPr>
        <p:spPr>
          <a:xfrm>
            <a:off x="8134350" y="4305300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032"/>
          </a:bodyPr>
          <a:lstStyle/>
          <a:p>
            <a:pPr algn="l">
              <a:lnSpc>
                <a:spcPct val="122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Ask multiple agents to build, audit, render, and inspect. Feed failures back into the skill until the guidance survives varied scenarios.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D8C6C2-BC9B-4893-9A06-14F661A5F783}"/>
              </a:ext>
            </a:extLst>
          </p:cNvPr>
          <p:cNvSpPr>
            <a:spLocks noGrp="1"/>
          </p:cNvSpPr>
          <p:nvPr/>
        </p:nvSpPr>
        <p:spPr>
          <a:xfrm>
            <a:off x="3790950" y="390525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E1827A-23DD-4A70-A80E-C957A7CFA873}"/>
              </a:ext>
            </a:extLst>
          </p:cNvPr>
          <p:cNvSpPr>
            <a:spLocks noGrp="1"/>
          </p:cNvSpPr>
          <p:nvPr/>
        </p:nvSpPr>
        <p:spPr>
          <a:xfrm>
            <a:off x="7391400" y="390525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E0525F-A493-426E-B6A6-B622AA4619B7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Observe faithfully  →  abstract intentionally  →  test repeatedly</a:t>
            </a:r>
          </a:p>
        </p:txBody>
      </p:sp>
    </p:spTree>
    <p:extLst>
      <p:ext uri="{BB962C8B-B14F-4D97-AF65-F5344CB8AC3E}">
        <p14:creationId xmlns:p14="http://schemas.microsoft.com/office/powerpoint/2010/main" val="2066083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B151BD6-E49E-4841-A0BD-1D0562FBB9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29" name="Graphic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1FE5067-AE8F-4064-8A77-401253A68B3E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HORIZON BANK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D092C-BE1A-4884-B5E0-52D52F0B00C4}"/>
              </a:ext>
            </a:extLst>
          </p:cNvPr>
          <p:cNvSpPr>
            <a:spLocks noGrp="1"/>
          </p:cNvSpPr>
          <p:nvPr/>
        </p:nvSpPr>
        <p:spPr>
          <a:xfrm>
            <a:off x="10953750" y="2476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5F52F-32E8-486E-8975-9CF997C8ACFE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511"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Behind the scenes, the plugin is a working system—not a prompt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31ACE4-A744-4824-AB9F-619935777256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8CF52-F9D3-4242-BC7A-BB922C03B17F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3143250" cy="37338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35" name="Graphic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66800" y="2724150"/>
            <a:ext cx="876300" cy="876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411D82-DFEE-4EBE-A875-07351263CDA9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plugin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EFA35-1CA6-4DB0-8931-39B51396BE01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2286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complementary skills</a:t>
            </a:r>
          </a:p>
          <a:p>
            <a:pPr algn="l">
              <a:lnSpc>
                <a:spcPct val="12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reference guides</a:t>
            </a:r>
          </a:p>
          <a:p>
            <a:pPr algn="l">
              <a:lnSpc>
                <a:spcPct val="12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 transparent SVG icons</a:t>
            </a:r>
          </a:p>
          <a:p>
            <a:pPr algn="l">
              <a:lnSpc>
                <a:spcPct val="128000"/>
              </a:lnSpc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 stock photographs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C76AC-F911-4670-8A72-78D546C6C1A3}"/>
              </a:ext>
            </a:extLst>
          </p:cNvPr>
          <p:cNvSpPr>
            <a:spLocks noGrp="1"/>
          </p:cNvSpPr>
          <p:nvPr/>
        </p:nvSpPr>
        <p:spPr>
          <a:xfrm>
            <a:off x="4400550" y="22669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Manifest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C8A925-608B-44C8-98EB-7FA0A524852A}"/>
              </a:ext>
            </a:extLst>
          </p:cNvPr>
          <p:cNvSpPr>
            <a:spLocks noGrp="1"/>
          </p:cNvSpPr>
          <p:nvPr/>
        </p:nvSpPr>
        <p:spPr>
          <a:xfrm>
            <a:off x="6115050" y="226695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.codex-plugin/plugin.json — identity, version, installable package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048571-4D8D-47CA-A8D9-444AD1292CCB}"/>
              </a:ext>
            </a:extLst>
          </p:cNvPr>
          <p:cNvSpPr>
            <a:spLocks noGrp="1"/>
          </p:cNvSpPr>
          <p:nvPr/>
        </p:nvSpPr>
        <p:spPr>
          <a:xfrm>
            <a:off x="4400550" y="2752725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8FB222-1B99-4B3D-BC18-0E0106805A4F}"/>
              </a:ext>
            </a:extLst>
          </p:cNvPr>
          <p:cNvSpPr>
            <a:spLocks noGrp="1"/>
          </p:cNvSpPr>
          <p:nvPr/>
        </p:nvSpPr>
        <p:spPr>
          <a:xfrm>
            <a:off x="4400550" y="29051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Build skill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B4ECDA-0477-4B86-9CFB-E4EBC9CA5EBD}"/>
              </a:ext>
            </a:extLst>
          </p:cNvPr>
          <p:cNvSpPr>
            <a:spLocks noGrp="1"/>
          </p:cNvSpPr>
          <p:nvPr/>
        </p:nvSpPr>
        <p:spPr>
          <a:xfrm>
            <a:off x="6115050" y="2905125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Design and implementation guidance for web and mobile concepts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A15F6E-1729-4BAD-B574-8743E606076C}"/>
              </a:ext>
            </a:extLst>
          </p:cNvPr>
          <p:cNvSpPr>
            <a:spLocks noGrp="1"/>
          </p:cNvSpPr>
          <p:nvPr/>
        </p:nvSpPr>
        <p:spPr>
          <a:xfrm>
            <a:off x="4400550" y="3390900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A66AE4-036B-410F-94FA-80B30052ECCE}"/>
              </a:ext>
            </a:extLst>
          </p:cNvPr>
          <p:cNvSpPr>
            <a:spLocks noGrp="1"/>
          </p:cNvSpPr>
          <p:nvPr/>
        </p:nvSpPr>
        <p:spPr>
          <a:xfrm>
            <a:off x="4400550" y="35433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Audit skill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502969-6B78-48F4-99D7-8ACFF8AAAC52}"/>
              </a:ext>
            </a:extLst>
          </p:cNvPr>
          <p:cNvSpPr>
            <a:spLocks noGrp="1"/>
          </p:cNvSpPr>
          <p:nvPr/>
        </p:nvSpPr>
        <p:spPr>
          <a:xfrm>
            <a:off x="6115050" y="354330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Read-only review logic, evidence boundaries, strict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4D4F28-AA24-48EB-AA65-F6A46ADE5951}"/>
              </a:ext>
            </a:extLst>
          </p:cNvPr>
          <p:cNvSpPr>
            <a:spLocks noGrp="1"/>
          </p:cNvSpPr>
          <p:nvPr/>
        </p:nvSpPr>
        <p:spPr>
          <a:xfrm>
            <a:off x="4400550" y="4029075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5E1BB3-B85B-409A-AB8C-45B3C0A89262}"/>
              </a:ext>
            </a:extLst>
          </p:cNvPr>
          <p:cNvSpPr>
            <a:spLocks noGrp="1"/>
          </p:cNvSpPr>
          <p:nvPr/>
        </p:nvSpPr>
        <p:spPr>
          <a:xfrm>
            <a:off x="4400550" y="418147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Design references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274967-AB1D-446D-9EA9-D238AD0BDE29}"/>
              </a:ext>
            </a:extLst>
          </p:cNvPr>
          <p:cNvSpPr>
            <a:spLocks noGrp="1"/>
          </p:cNvSpPr>
          <p:nvPr/>
        </p:nvSpPr>
        <p:spPr>
          <a:xfrm>
            <a:off x="6115050" y="4181475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Brand foundations, components, content, assets, agentic surfaces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1A6900-832F-444F-8542-36C3A26E5C82}"/>
              </a:ext>
            </a:extLst>
          </p:cNvPr>
          <p:cNvSpPr>
            <a:spLocks noGrp="1"/>
          </p:cNvSpPr>
          <p:nvPr/>
        </p:nvSpPr>
        <p:spPr>
          <a:xfrm>
            <a:off x="4400550" y="4667250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0C9716-523B-4D1A-9298-CC785DFE88C6}"/>
              </a:ext>
            </a:extLst>
          </p:cNvPr>
          <p:cNvSpPr>
            <a:spLocks noGrp="1"/>
          </p:cNvSpPr>
          <p:nvPr/>
        </p:nvSpPr>
        <p:spPr>
          <a:xfrm>
            <a:off x="4400550" y="4819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Reusable assets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A264AE-80CD-4014-A54B-A183A31B3E33}"/>
              </a:ext>
            </a:extLst>
          </p:cNvPr>
          <p:cNvSpPr>
            <a:spLocks noGrp="1"/>
          </p:cNvSpPr>
          <p:nvPr/>
        </p:nvSpPr>
        <p:spPr>
          <a:xfrm>
            <a:off x="6115050" y="481965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Logo family, Horizon Sans, icons, photography, CSS and JSON tokens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673C7D-49E8-4B53-9A8F-E4463ECCDD72}"/>
              </a:ext>
            </a:extLst>
          </p:cNvPr>
          <p:cNvSpPr>
            <a:spLocks noGrp="1"/>
          </p:cNvSpPr>
          <p:nvPr/>
        </p:nvSpPr>
        <p:spPr>
          <a:xfrm>
            <a:off x="4400550" y="5305425"/>
            <a:ext cx="69532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37AF90-7C28-45E7-9039-AC02ED05A6A0}"/>
              </a:ext>
            </a:extLst>
          </p:cNvPr>
          <p:cNvSpPr>
            <a:spLocks noGrp="1"/>
          </p:cNvSpPr>
          <p:nvPr/>
        </p:nvSpPr>
        <p:spPr>
          <a:xfrm>
            <a:off x="4400550" y="54578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ACA5E2-979F-4005-8045-EAFF6144C80D}"/>
              </a:ext>
            </a:extLst>
          </p:cNvPr>
          <p:cNvSpPr>
            <a:spLocks noGrp="1"/>
          </p:cNvSpPr>
          <p:nvPr/>
        </p:nvSpPr>
        <p:spPr>
          <a:xfrm>
            <a:off x="6115050" y="5457825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15"/>
          </a:bodyPr>
          <a:lstStyle/>
          <a:p>
            <a:pPr algn="l">
              <a:lnSpc>
                <a:spcPct val="114000"/>
              </a:lnSpc>
              <a:buNone/>
              <a:defRPr sz="127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Strict audit script, rendered examples, reinstall and cache-busting checks</a:t>
            </a:r>
          </a:p>
        </p:txBody>
      </p:sp>
    </p:spTree>
    <p:extLst>
      <p:ext uri="{BB962C8B-B14F-4D97-AF65-F5344CB8AC3E}">
        <p14:creationId xmlns:p14="http://schemas.microsoft.com/office/powerpoint/2010/main" val="2038621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0535F0A-4054-4556-8FFE-A5F292130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16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98BBCA-7699-4284-BE60-43DCBBA70EB4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HORIZON BANK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36895D-2188-44E0-9931-908A5CFFD0D4}"/>
              </a:ext>
            </a:extLst>
          </p:cNvPr>
          <p:cNvSpPr>
            <a:spLocks noGrp="1"/>
          </p:cNvSpPr>
          <p:nvPr/>
        </p:nvSpPr>
        <p:spPr>
          <a:xfrm>
            <a:off x="10953750" y="2476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5A825E-AFBD-4ECF-8D12-0E94B96AEFE5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Accessibility guidance is a baseline—not a certification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E165F-7903-4509-838D-5F49840F5006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5C4B5E-026E-4A58-9386-429B9E6CB46F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10820400" cy="895350"/>
          </a:xfrm>
          <a:prstGeom prst="rect">
            <a:avLst/>
          </a:prstGeom>
          <a:solidFill>
            <a:srgbClr val="F4C145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39E9E-AC7D-4DAB-8A61-6F7B36EEBD44}"/>
              </a:ext>
            </a:extLst>
          </p:cNvPr>
          <p:cNvSpPr>
            <a:spLocks noGrp="1"/>
          </p:cNvSpPr>
          <p:nvPr/>
        </p:nvSpPr>
        <p:spPr>
          <a:xfrm>
            <a:off x="990600" y="2600325"/>
            <a:ext cx="1021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plugin is not an accessibility-targeted product and does not certify conformance.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B48D43-8B3B-4F26-B8B5-0D6B72936039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It does provide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D0E566-3D0E-4631-951C-AB9DE5FE1DA6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6863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4" indent="-12">
              <a:lnSpc>
                <a:spcPct val="118000"/>
              </a:lnSpc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WCAG 2.2 AA-oriented design guidance</a:t>
            </a:r>
          </a:p>
          <a:p>
            <a:pPr marL="24" indent="-12">
              <a:lnSpc>
                <a:spcPct val="118000"/>
              </a:lnSpc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Contrast, focus, semantic HTML, labels, and state coverage</a:t>
            </a:r>
          </a:p>
          <a:p>
            <a:pPr marL="24" indent="-12">
              <a:lnSpc>
                <a:spcPct val="118000"/>
              </a:lnSpc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Plain-language content and error-recovery guidance</a:t>
            </a:r>
          </a:p>
          <a:p>
            <a:pPr marL="24" indent="-12">
              <a:lnSpc>
                <a:spcPct val="118000"/>
              </a:lnSpc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Preflight checks that catch obvious regressions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10EC8F-357D-42EA-AB48-4EE77D386B81}"/>
              </a:ext>
            </a:extLst>
          </p:cNvPr>
          <p:cNvSpPr>
            <a:spLocks noGrp="1"/>
          </p:cNvSpPr>
          <p:nvPr/>
        </p:nvSpPr>
        <p:spPr>
          <a:xfrm>
            <a:off x="5962650" y="3714750"/>
            <a:ext cx="9525" cy="213360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B18E8-C953-4395-A53F-CE25D552BE5D}"/>
              </a:ext>
            </a:extLst>
          </p:cNvPr>
          <p:cNvSpPr>
            <a:spLocks noGrp="1"/>
          </p:cNvSpPr>
          <p:nvPr/>
        </p:nvSpPr>
        <p:spPr>
          <a:xfrm>
            <a:off x="6400800" y="3714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It does not replace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552A5-1B50-45D2-96CF-92F28C8540D0}"/>
              </a:ext>
            </a:extLst>
          </p:cNvPr>
          <p:cNvSpPr>
            <a:spLocks noGrp="1"/>
          </p:cNvSpPr>
          <p:nvPr/>
        </p:nvSpPr>
        <p:spPr>
          <a:xfrm>
            <a:off x="6400800" y="4191000"/>
            <a:ext cx="46863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4" indent="-12">
              <a:lnSpc>
                <a:spcPct val="118000"/>
              </a:lnSpc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Accessibility specialists and final ownership</a:t>
            </a:r>
          </a:p>
          <a:p>
            <a:pPr marL="24" indent="-12">
              <a:lnSpc>
                <a:spcPct val="118000"/>
              </a:lnSpc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Assistive-technology and keyboard testing</a:t>
            </a:r>
          </a:p>
          <a:p>
            <a:pPr marL="24" indent="-12">
              <a:lnSpc>
                <a:spcPct val="118000"/>
              </a:lnSpc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User research with people with disabilities</a:t>
            </a:r>
          </a:p>
          <a:p>
            <a:pPr marL="24" indent="-12">
              <a:lnSpc>
                <a:spcPct val="118000"/>
              </a:lnSpc>
              <a:buNone/>
              <a:defRPr sz="135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1717"/>
                </a:solidFill>
                <a:latin typeface="Arial"/>
                <a:ea typeface="Arial"/>
                <a:cs typeface="Arial"/>
              </a:rPr>
              <a:t>Legal, policy, or formal conformance review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76F68F-BAB8-4FC2-B0BD-A8AF645953DC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Guidance + preflight ≠ proof of conformance</a:t>
            </a:r>
          </a:p>
        </p:txBody>
      </p:sp>
    </p:spTree>
    <p:extLst>
      <p:ext uri="{BB962C8B-B14F-4D97-AF65-F5344CB8AC3E}">
        <p14:creationId xmlns:p14="http://schemas.microsoft.com/office/powerpoint/2010/main" val="31323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EE237B2D-4F21-4B5C-9147-DF6329FF8C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66" name="Graphic 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49E5BB-3947-4DBD-AA11-EB7E81208A34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ECOSYSTEM SNAPSHOT · JULY 27,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D4628-8D76-4F3B-AF72-D329D2F117F9}"/>
              </a:ext>
            </a:extLst>
          </p:cNvPr>
          <p:cNvSpPr>
            <a:spLocks noGrp="1"/>
          </p:cNvSpPr>
          <p:nvPr/>
        </p:nvSpPr>
        <p:spPr>
          <a:xfrm>
            <a:off x="10953750" y="2476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8F6C91-1D46-4ACA-AD8C-9D692DFF58CE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696"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Skills are broadly portable; plugin bundles are still platform-specific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0C2F1B-4872-4C85-936E-A7F7F9AE50CF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9CC2D1-37E7-4FE9-BC5A-D111C8F77B8F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5F7FA3-3328-4730-A5C4-AABE38DAABE2}"/>
              </a:ext>
            </a:extLst>
          </p:cNvPr>
          <p:cNvSpPr>
            <a:spLocks noGrp="1"/>
          </p:cNvSpPr>
          <p:nvPr/>
        </p:nvSpPr>
        <p:spPr>
          <a:xfrm>
            <a:off x="3429000" y="22383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Standalone skills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9D8CD8-0526-4F3D-8ED7-E0FEF65D2E0E}"/>
              </a:ext>
            </a:extLst>
          </p:cNvPr>
          <p:cNvSpPr>
            <a:spLocks noGrp="1"/>
          </p:cNvSpPr>
          <p:nvPr/>
        </p:nvSpPr>
        <p:spPr>
          <a:xfrm>
            <a:off x="5476875" y="22383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Plugin / extension bundle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0F7B3-EE6E-4CED-918E-2A0CF4D037F2}"/>
              </a:ext>
            </a:extLst>
          </p:cNvPr>
          <p:cNvSpPr>
            <a:spLocks noGrp="1"/>
          </p:cNvSpPr>
          <p:nvPr/>
        </p:nvSpPr>
        <p:spPr>
          <a:xfrm>
            <a:off x="8096250" y="2238375"/>
            <a:ext cx="3409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What is documented today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AE217D-EB5D-4A05-A09F-A7CFA3DE3F6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0820400" cy="19050"/>
          </a:xfrm>
          <a:prstGeom prst="rect">
            <a:avLst/>
          </a:prstGeom>
          <a:solidFill>
            <a:srgbClr val="171717"/>
          </a:solidFill>
          <a:ln w="0">
            <a:solidFill>
              <a:srgbClr val="17171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790AC-C8B1-4298-A3B6-0E8FC1555DD7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D6236A-7AC6-46FB-A45F-339AAC8FFADC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CDF3EF-861D-4C0D-8EB8-480910B7EA53}"/>
              </a:ext>
            </a:extLst>
          </p:cNvPr>
          <p:cNvSpPr>
            <a:spLocks noGrp="1"/>
          </p:cNvSpPr>
          <p:nvPr/>
        </p:nvSpPr>
        <p:spPr>
          <a:xfrm>
            <a:off x="3648075" y="2733675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28798-A252-4DEB-9169-EFEC23B4D573}"/>
              </a:ext>
            </a:extLst>
          </p:cNvPr>
          <p:cNvSpPr>
            <a:spLocks noGrp="1"/>
          </p:cNvSpPr>
          <p:nvPr/>
        </p:nvSpPr>
        <p:spPr>
          <a:xfrm>
            <a:off x="3762375" y="28003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65951D0-983E-46A5-8127-B4D0117624BE}"/>
              </a:ext>
            </a:extLst>
          </p:cNvPr>
          <p:cNvSpPr>
            <a:spLocks noGrp="1"/>
          </p:cNvSpPr>
          <p:nvPr/>
        </p:nvSpPr>
        <p:spPr>
          <a:xfrm>
            <a:off x="5734050" y="273367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6ED352-0EB7-4E32-AF62-08E8B6F53EA6}"/>
              </a:ext>
            </a:extLst>
          </p:cNvPr>
          <p:cNvSpPr>
            <a:spLocks noGrp="1"/>
          </p:cNvSpPr>
          <p:nvPr/>
        </p:nvSpPr>
        <p:spPr>
          <a:xfrm>
            <a:off x="5848350" y="28003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5DB166-66D7-482D-A5DE-749009413903}"/>
              </a:ext>
            </a:extLst>
          </p:cNvPr>
          <p:cNvSpPr>
            <a:spLocks noGrp="1"/>
          </p:cNvSpPr>
          <p:nvPr/>
        </p:nvSpPr>
        <p:spPr>
          <a:xfrm>
            <a:off x="8096250" y="275272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17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Plugins package skills, apps, and workflow guidance.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F5F3AC-D8E4-4608-8CD1-575240FCEFEE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Claude Code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2B1A2D-30B5-486C-AF10-9F270434339E}"/>
              </a:ext>
            </a:extLst>
          </p:cNvPr>
          <p:cNvSpPr>
            <a:spLocks noGrp="1"/>
          </p:cNvSpPr>
          <p:nvPr/>
        </p:nvSpPr>
        <p:spPr>
          <a:xfrm>
            <a:off x="3648075" y="3171825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4A75BA-AF86-47BF-9293-345DA1EED18D}"/>
              </a:ext>
            </a:extLst>
          </p:cNvPr>
          <p:cNvSpPr>
            <a:spLocks noGrp="1"/>
          </p:cNvSpPr>
          <p:nvPr/>
        </p:nvSpPr>
        <p:spPr>
          <a:xfrm>
            <a:off x="3762375" y="32385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7EE4B1F-E837-4752-9E58-7F7BD72AF860}"/>
              </a:ext>
            </a:extLst>
          </p:cNvPr>
          <p:cNvSpPr>
            <a:spLocks noGrp="1"/>
          </p:cNvSpPr>
          <p:nvPr/>
        </p:nvSpPr>
        <p:spPr>
          <a:xfrm>
            <a:off x="5734050" y="31718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6F33C-1B87-4747-A4D7-562193EA70DE}"/>
              </a:ext>
            </a:extLst>
          </p:cNvPr>
          <p:cNvSpPr>
            <a:spLocks noGrp="1"/>
          </p:cNvSpPr>
          <p:nvPr/>
        </p:nvSpPr>
        <p:spPr>
          <a:xfrm>
            <a:off x="5848350" y="3238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742C69-816F-427F-91FB-D6B64AC7462B}"/>
              </a:ext>
            </a:extLst>
          </p:cNvPr>
          <p:cNvSpPr>
            <a:spLocks noGrp="1"/>
          </p:cNvSpPr>
          <p:nvPr/>
        </p:nvSpPr>
        <p:spPr>
          <a:xfrm>
            <a:off x="8096250" y="319087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80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Plugins bundle skills, agents, hooks, MCP and more.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42776F-E19F-4016-A353-450C61017DA0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F33418-59A3-430A-837F-323587968898}"/>
              </a:ext>
            </a:extLst>
          </p:cNvPr>
          <p:cNvSpPr>
            <a:spLocks noGrp="1"/>
          </p:cNvSpPr>
          <p:nvPr/>
        </p:nvSpPr>
        <p:spPr>
          <a:xfrm>
            <a:off x="800100" y="3657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Cursor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446ED08-4AE2-4A02-A92E-650DFF8A0F30}"/>
              </a:ext>
            </a:extLst>
          </p:cNvPr>
          <p:cNvSpPr>
            <a:spLocks noGrp="1"/>
          </p:cNvSpPr>
          <p:nvPr/>
        </p:nvSpPr>
        <p:spPr>
          <a:xfrm>
            <a:off x="3648075" y="3609975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EE5E5C-A59A-4E6D-8A10-C455C657A5A1}"/>
              </a:ext>
            </a:extLst>
          </p:cNvPr>
          <p:cNvSpPr>
            <a:spLocks noGrp="1"/>
          </p:cNvSpPr>
          <p:nvPr/>
        </p:nvSpPr>
        <p:spPr>
          <a:xfrm>
            <a:off x="3762375" y="36766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D9321CF-ED8D-4AEB-B68C-604694247DF7}"/>
              </a:ext>
            </a:extLst>
          </p:cNvPr>
          <p:cNvSpPr>
            <a:spLocks noGrp="1"/>
          </p:cNvSpPr>
          <p:nvPr/>
        </p:nvSpPr>
        <p:spPr>
          <a:xfrm>
            <a:off x="5734050" y="360997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0AEA36-935F-40CF-A1A7-E8E366B7B03D}"/>
              </a:ext>
            </a:extLst>
          </p:cNvPr>
          <p:cNvSpPr>
            <a:spLocks noGrp="1"/>
          </p:cNvSpPr>
          <p:nvPr/>
        </p:nvSpPr>
        <p:spPr>
          <a:xfrm>
            <a:off x="5848350" y="36766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B352B4-4A6B-4706-AEA9-67656A66EA88}"/>
              </a:ext>
            </a:extLst>
          </p:cNvPr>
          <p:cNvSpPr>
            <a:spLocks noGrp="1"/>
          </p:cNvSpPr>
          <p:nvPr/>
        </p:nvSpPr>
        <p:spPr>
          <a:xfrm>
            <a:off x="8096250" y="362902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011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Marketplace plugins bundle skills, subagents, MCP, hooks and rules.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45B42F-D1DF-4873-9304-E9364278696C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OpenCode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17C622D-B0BA-4BBC-AA09-212CD5900959}"/>
              </a:ext>
            </a:extLst>
          </p:cNvPr>
          <p:cNvSpPr>
            <a:spLocks noGrp="1"/>
          </p:cNvSpPr>
          <p:nvPr/>
        </p:nvSpPr>
        <p:spPr>
          <a:xfrm>
            <a:off x="3648075" y="4048125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C5D2E4-E9F8-4A69-AB4C-0DE479CC2B4D}"/>
              </a:ext>
            </a:extLst>
          </p:cNvPr>
          <p:cNvSpPr>
            <a:spLocks noGrp="1"/>
          </p:cNvSpPr>
          <p:nvPr/>
        </p:nvSpPr>
        <p:spPr>
          <a:xfrm>
            <a:off x="3762375" y="41148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E9AA9BB-9930-4C5E-8FEE-4A6512AC8416}"/>
              </a:ext>
            </a:extLst>
          </p:cNvPr>
          <p:cNvSpPr>
            <a:spLocks noGrp="1"/>
          </p:cNvSpPr>
          <p:nvPr/>
        </p:nvSpPr>
        <p:spPr>
          <a:xfrm>
            <a:off x="5734050" y="40481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6AC920-9FB4-4500-A9D6-7A10ABD615E0}"/>
              </a:ext>
            </a:extLst>
          </p:cNvPr>
          <p:cNvSpPr>
            <a:spLocks noGrp="1"/>
          </p:cNvSpPr>
          <p:nvPr/>
        </p:nvSpPr>
        <p:spPr>
          <a:xfrm>
            <a:off x="5848350" y="41148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95B675-98EF-46F6-A2AC-E0711DD7DA1B}"/>
              </a:ext>
            </a:extLst>
          </p:cNvPr>
          <p:cNvSpPr>
            <a:spLocks noGrp="1"/>
          </p:cNvSpPr>
          <p:nvPr/>
        </p:nvSpPr>
        <p:spPr>
          <a:xfrm>
            <a:off x="8096250" y="406717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Agent Skills plus a documented plugin API.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B7C314-74BA-41C9-BAED-035BB1EABAED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A7F1A8-FE99-4294-A5D9-DAB64C28298A}"/>
              </a:ext>
            </a:extLst>
          </p:cNvPr>
          <p:cNvSpPr>
            <a:spLocks noGrp="1"/>
          </p:cNvSpPr>
          <p:nvPr/>
        </p:nvSpPr>
        <p:spPr>
          <a:xfrm>
            <a:off x="800100" y="4533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Gemini CLI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0CA574F-851B-4F4B-B4D2-CFA5D3DB101F}"/>
              </a:ext>
            </a:extLst>
          </p:cNvPr>
          <p:cNvSpPr>
            <a:spLocks noGrp="1"/>
          </p:cNvSpPr>
          <p:nvPr/>
        </p:nvSpPr>
        <p:spPr>
          <a:xfrm>
            <a:off x="3648075" y="4486275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40F6A9-6503-4F3E-BD59-D2181E78D67D}"/>
              </a:ext>
            </a:extLst>
          </p:cNvPr>
          <p:cNvSpPr>
            <a:spLocks noGrp="1"/>
          </p:cNvSpPr>
          <p:nvPr/>
        </p:nvSpPr>
        <p:spPr>
          <a:xfrm>
            <a:off x="3762375" y="45529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7843F73-860C-4E9C-BDD9-984F3D9C4433}"/>
              </a:ext>
            </a:extLst>
          </p:cNvPr>
          <p:cNvSpPr>
            <a:spLocks noGrp="1"/>
          </p:cNvSpPr>
          <p:nvPr/>
        </p:nvSpPr>
        <p:spPr>
          <a:xfrm>
            <a:off x="5734050" y="448627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CECF6"/>
          </a:solidFill>
          <a:ln w="0">
            <a:solidFill>
              <a:srgbClr val="ECECF6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EEB0C7-59A9-4B29-8100-E3571B5668CF}"/>
              </a:ext>
            </a:extLst>
          </p:cNvPr>
          <p:cNvSpPr>
            <a:spLocks noGrp="1"/>
          </p:cNvSpPr>
          <p:nvPr/>
        </p:nvSpPr>
        <p:spPr>
          <a:xfrm>
            <a:off x="5848350" y="45529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EXTENSIONS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0658AF-417E-4EE2-8980-88B3040234EB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011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Extensions can package skills, MCP, commands, hooks and agents.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780AF5-C022-42EC-9CF2-6757EB57D11E}"/>
              </a:ext>
            </a:extLst>
          </p:cNvPr>
          <p:cNvSpPr>
            <a:spLocks noGrp="1"/>
          </p:cNvSpPr>
          <p:nvPr/>
        </p:nvSpPr>
        <p:spPr>
          <a:xfrm>
            <a:off x="800100" y="49720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Devin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03B79D1-57FC-4568-9BB9-5819D098A59A}"/>
              </a:ext>
            </a:extLst>
          </p:cNvPr>
          <p:cNvSpPr>
            <a:spLocks noGrp="1"/>
          </p:cNvSpPr>
          <p:nvPr/>
        </p:nvSpPr>
        <p:spPr>
          <a:xfrm>
            <a:off x="3648075" y="4924425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11A2FD-2739-4643-80BB-C0055A285814}"/>
              </a:ext>
            </a:extLst>
          </p:cNvPr>
          <p:cNvSpPr>
            <a:spLocks noGrp="1"/>
          </p:cNvSpPr>
          <p:nvPr/>
        </p:nvSpPr>
        <p:spPr>
          <a:xfrm>
            <a:off x="3762375" y="49911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EB5E17-BE74-455F-BBC4-3EC8C1E633A7}"/>
              </a:ext>
            </a:extLst>
          </p:cNvPr>
          <p:cNvSpPr>
            <a:spLocks noGrp="1"/>
          </p:cNvSpPr>
          <p:nvPr/>
        </p:nvSpPr>
        <p:spPr>
          <a:xfrm>
            <a:off x="5734050" y="49244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7E8EB"/>
          </a:solidFill>
          <a:ln w="0">
            <a:solidFill>
              <a:srgbClr val="F7E8EB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CAA96E6-3575-4DD8-AEE7-CEC4760B8910}"/>
              </a:ext>
            </a:extLst>
          </p:cNvPr>
          <p:cNvSpPr>
            <a:spLocks noGrp="1"/>
          </p:cNvSpPr>
          <p:nvPr/>
        </p:nvSpPr>
        <p:spPr>
          <a:xfrm>
            <a:off x="5848350" y="49911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NOT FOUND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63C03F-7B14-4C8E-87F6-3BE8F10B7C0A}"/>
              </a:ext>
            </a:extLst>
          </p:cNvPr>
          <p:cNvSpPr>
            <a:spLocks noGrp="1"/>
          </p:cNvSpPr>
          <p:nvPr/>
        </p:nvSpPr>
        <p:spPr>
          <a:xfrm>
            <a:off x="8096250" y="494347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011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Repository SKILL.md support; no comparable bundle found in reviewed docs.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B51B42-D914-4C09-88B9-B9BC040FF006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41910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3EA8BB-5ADC-46B1-B889-8C6721729140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Antigravity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936D555-A248-4DD4-8407-74368E1C161C}"/>
              </a:ext>
            </a:extLst>
          </p:cNvPr>
          <p:cNvSpPr>
            <a:spLocks noGrp="1"/>
          </p:cNvSpPr>
          <p:nvPr/>
        </p:nvSpPr>
        <p:spPr>
          <a:xfrm>
            <a:off x="3648075" y="5362575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A580846-73D2-4B8E-B97D-9FDC835AF4FE}"/>
              </a:ext>
            </a:extLst>
          </p:cNvPr>
          <p:cNvSpPr>
            <a:spLocks noGrp="1"/>
          </p:cNvSpPr>
          <p:nvPr/>
        </p:nvSpPr>
        <p:spPr>
          <a:xfrm>
            <a:off x="3762375" y="542925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ACC209C-7D47-4B4B-A76D-2E9605B17E75}"/>
              </a:ext>
            </a:extLst>
          </p:cNvPr>
          <p:cNvSpPr>
            <a:spLocks noGrp="1"/>
          </p:cNvSpPr>
          <p:nvPr/>
        </p:nvSpPr>
        <p:spPr>
          <a:xfrm>
            <a:off x="5734050" y="536257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7E8EB"/>
          </a:solidFill>
          <a:ln w="0">
            <a:solidFill>
              <a:srgbClr val="F7E8EB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6AA5B35-CCB7-484F-BBD8-3209051D32B5}"/>
              </a:ext>
            </a:extLst>
          </p:cNvPr>
          <p:cNvSpPr>
            <a:spLocks noGrp="1"/>
          </p:cNvSpPr>
          <p:nvPr/>
        </p:nvSpPr>
        <p:spPr>
          <a:xfrm>
            <a:off x="5848350" y="54292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NOT FOUND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1806812-A869-4326-8053-C563755E9DD0}"/>
              </a:ext>
            </a:extLst>
          </p:cNvPr>
          <p:cNvSpPr>
            <a:spLocks noGrp="1"/>
          </p:cNvSpPr>
          <p:nvPr/>
        </p:nvSpPr>
        <p:spPr>
          <a:xfrm>
            <a:off x="8096250" y="538162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011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Project/global Agent Skills; no comparable bundle found in reviewed docs.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1EEB0D0-402A-4588-B02A-865510F053EB}"/>
              </a:ext>
            </a:extLst>
          </p:cNvPr>
          <p:cNvSpPr>
            <a:spLocks noGrp="1"/>
          </p:cNvSpPr>
          <p:nvPr/>
        </p:nvSpPr>
        <p:spPr>
          <a:xfrm>
            <a:off x="800100" y="58483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GitHub Copilot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CD8ECA96-E962-4FC9-8C94-442DBE64ABEB}"/>
              </a:ext>
            </a:extLst>
          </p:cNvPr>
          <p:cNvSpPr>
            <a:spLocks noGrp="1"/>
          </p:cNvSpPr>
          <p:nvPr/>
        </p:nvSpPr>
        <p:spPr>
          <a:xfrm>
            <a:off x="3648075" y="5800725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0">
            <a:solidFill>
              <a:srgbClr val="E9F2EE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16CF29-095D-4407-A0D0-E2F08A034244}"/>
              </a:ext>
            </a:extLst>
          </p:cNvPr>
          <p:cNvSpPr>
            <a:spLocks noGrp="1"/>
          </p:cNvSpPr>
          <p:nvPr/>
        </p:nvSpPr>
        <p:spPr>
          <a:xfrm>
            <a:off x="3762375" y="58674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B0326BA-1F22-4A4D-A33C-983326E6AAA5}"/>
              </a:ext>
            </a:extLst>
          </p:cNvPr>
          <p:cNvSpPr>
            <a:spLocks noGrp="1"/>
          </p:cNvSpPr>
          <p:nvPr/>
        </p:nvSpPr>
        <p:spPr>
          <a:xfrm>
            <a:off x="5734050" y="580072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F7E8EB"/>
          </a:solidFill>
          <a:ln w="0">
            <a:solidFill>
              <a:srgbClr val="F7E8EB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A6EA9F-292A-4F06-94A0-CBA4B82BA213}"/>
              </a:ext>
            </a:extLst>
          </p:cNvPr>
          <p:cNvSpPr>
            <a:spLocks noGrp="1"/>
          </p:cNvSpPr>
          <p:nvPr/>
        </p:nvSpPr>
        <p:spPr>
          <a:xfrm>
            <a:off x="5848350" y="58674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NOT FOUND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57DF8CC-9BBB-492A-81E9-0DCDBEF65EDD}"/>
              </a:ext>
            </a:extLst>
          </p:cNvPr>
          <p:cNvSpPr>
            <a:spLocks noGrp="1"/>
          </p:cNvSpPr>
          <p:nvPr/>
        </p:nvSpPr>
        <p:spPr>
          <a:xfrm>
            <a:off x="8096250" y="581977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0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Project and personal Agent Skills across Copilot surfaces.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B0885BA-CC5F-46A5-8C17-632A7F1DDC01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 i="1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56565A"/>
                </a:solidFill>
                <a:latin typeface="Arial"/>
                <a:ea typeface="Arial"/>
                <a:cs typeface="Arial"/>
              </a:rPr>
              <a:t>“Not found” means no first-class bundle was located in the official documentation reviewed—not that one can never exist.</a:t>
            </a:r>
          </a:p>
        </p:txBody>
      </p:sp>
    </p:spTree>
    <p:extLst>
      <p:ext uri="{BB962C8B-B14F-4D97-AF65-F5344CB8AC3E}">
        <p14:creationId xmlns:p14="http://schemas.microsoft.com/office/powerpoint/2010/main" val="132364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476250"/>
            <a:ext cx="2095500" cy="304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0EDBE3-0234-4A70-91A4-8868EBC87702}"/>
              </a:ext>
            </a:extLst>
          </p:cNvPr>
          <p:cNvSpPr>
            <a:spLocks noGrp="1"/>
          </p:cNvSpPr>
          <p:nvPr/>
        </p:nvSpPr>
        <p:spPr>
          <a:xfrm>
            <a:off x="9620250" y="523875"/>
            <a:ext cx="1885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LEARNING 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21264E-2B52-4974-B080-86A07B18AFF6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909"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Assume the model can do the 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974B8-1CE9-409A-81D5-B540DB141A9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300" b="0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3300" b="0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Teach it how you want the work done.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9ED79B-1E3E-4D3C-A00E-ED3B04EE8FCE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990600" cy="476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DB064-669A-4760-9CA4-8FC4CF913693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6B1A8A-04C0-45EB-A4BE-D50B1E898ED1}"/>
              </a:ext>
            </a:extLst>
          </p:cNvPr>
          <p:cNvSpPr>
            <a:spLocks noGrp="1"/>
          </p:cNvSpPr>
          <p:nvPr/>
        </p:nvSpPr>
        <p:spPr>
          <a:xfrm>
            <a:off x="2286000" y="3695700"/>
            <a:ext cx="519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 what “good” must accomplish.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7CBBB4-5F47-43E5-BAAD-A81B0D29C2FD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HOUSE WAY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0E01F7-7272-4901-A051-3532E6AB969B}"/>
              </a:ext>
            </a:extLst>
          </p:cNvPr>
          <p:cNvSpPr>
            <a:spLocks noGrp="1"/>
          </p:cNvSpPr>
          <p:nvPr/>
        </p:nvSpPr>
        <p:spPr>
          <a:xfrm>
            <a:off x="2286000" y="4286250"/>
            <a:ext cx="519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 the SME’s patterns, language, and judgment.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66A52A-71FA-4A92-A121-4485899960C4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PITFALLS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7EF9A3-986B-4F21-9669-321BB6D4D828}"/>
              </a:ext>
            </a:extLst>
          </p:cNvPr>
          <p:cNvSpPr>
            <a:spLocks noGrp="1"/>
          </p:cNvSpPr>
          <p:nvPr/>
        </p:nvSpPr>
        <p:spPr>
          <a:xfrm>
            <a:off x="2286000" y="4876800"/>
            <a:ext cx="519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 out common, expensive, or easy-to-miss failures.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5E88F0-401F-4FAC-AD9F-044247183F6C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DONE GATE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07DD01-6848-47D4-ABBC-92C7B198C69E}"/>
              </a:ext>
            </a:extLst>
          </p:cNvPr>
          <p:cNvSpPr>
            <a:spLocks noGrp="1"/>
          </p:cNvSpPr>
          <p:nvPr/>
        </p:nvSpPr>
        <p:spPr>
          <a:xfrm>
            <a:off x="2286000" y="5467350"/>
            <a:ext cx="519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the evidence required before the agent stops.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DC3F89-20F2-4A04-8773-EB100CCC2C0D}"/>
              </a:ext>
            </a:extLst>
          </p:cNvPr>
          <p:cNvSpPr>
            <a:spLocks noGrp="1"/>
          </p:cNvSpPr>
          <p:nvPr/>
        </p:nvSpPr>
        <p:spPr>
          <a:xfrm>
            <a:off x="8572500" y="1733550"/>
            <a:ext cx="2286000" cy="22860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31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24950" y="2286000"/>
            <a:ext cx="1181100" cy="11811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BF13F39-28B0-4083-9070-0C464C3207D9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304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freeze guidance around today’s limitations.</a:t>
            </a:r>
          </a:p>
        </p:txBody>
      </p:sp>
    </p:spTree>
    <p:extLst>
      <p:ext uri="{BB962C8B-B14F-4D97-AF65-F5344CB8AC3E}">
        <p14:creationId xmlns:p14="http://schemas.microsoft.com/office/powerpoint/2010/main" val="1983503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6856576-3F27-4A1C-90C0-E13F41E82D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7DDCBD-F382-4702-A36F-6BF404D302AF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02 · SME OWNERSHIP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BB0D52-3C62-4C78-BB84-0268450F6AF0}"/>
              </a:ext>
            </a:extLst>
          </p:cNvPr>
          <p:cNvSpPr>
            <a:spLocks noGrp="1"/>
          </p:cNvSpPr>
          <p:nvPr/>
        </p:nvSpPr>
        <p:spPr>
          <a:xfrm>
            <a:off x="10953750" y="2476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0CFC3-AC9B-4F81-BCF6-CAF5EC3EE7E2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skill needs an owner who can recognize the right answer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57A9C2-A7E8-419F-882D-379FA1EE527A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B1C90D-F36C-4EA9-86E3-BBF5CAD1A974}"/>
              </a:ext>
            </a:extLst>
          </p:cNvPr>
          <p:cNvSpPr>
            <a:spLocks noGrp="1"/>
          </p:cNvSpPr>
          <p:nvPr/>
        </p:nvSpPr>
        <p:spPr>
          <a:xfrm>
            <a:off x="4762500" y="2714625"/>
            <a:ext cx="2667000" cy="26670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CF3FD-9038-449B-BE4B-3772682AB32D}"/>
              </a:ext>
            </a:extLst>
          </p:cNvPr>
          <p:cNvSpPr>
            <a:spLocks noGrp="1"/>
          </p:cNvSpPr>
          <p:nvPr/>
        </p:nvSpPr>
        <p:spPr>
          <a:xfrm>
            <a:off x="5143500" y="3352800"/>
            <a:ext cx="190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359"/>
          </a:bodyPr>
          <a:lstStyle/>
          <a:p>
            <a:pPr algn="ctr">
              <a:lnSpc>
                <a:spcPct val="100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388849-0179-41DB-AE54-C1DE63CDFDCE}"/>
              </a:ext>
            </a:extLst>
          </p:cNvPr>
          <p:cNvSpPr>
            <a:spLocks noGrp="1"/>
          </p:cNvSpPr>
          <p:nvPr/>
        </p:nvSpPr>
        <p:spPr>
          <a:xfrm>
            <a:off x="5219700" y="4048125"/>
            <a:ext cx="1752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owns the</a:t>
            </a:r>
          </a:p>
          <a:p>
            <a:pPr algn="ctr">
              <a:lnSpc>
                <a:spcPct val="100000"/>
              </a:lnSpc>
              <a:buNone/>
              <a:defRPr sz="1500" b="0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quality bar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243E6C-87B1-4D37-9031-7430C01E313C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D5B374-2358-40D2-9247-B45CB2B7C689}"/>
              </a:ext>
            </a:extLst>
          </p:cNvPr>
          <p:cNvSpPr>
            <a:spLocks noGrp="1"/>
          </p:cNvSpPr>
          <p:nvPr/>
        </p:nvSpPr>
        <p:spPr>
          <a:xfrm>
            <a:off x="1276350" y="251460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Are you truly the subject-matter expert?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9CCD94-D719-4D40-93D0-006CF263A9B3}"/>
              </a:ext>
            </a:extLst>
          </p:cNvPr>
          <p:cNvSpPr>
            <a:spLocks noGrp="1"/>
          </p:cNvSpPr>
          <p:nvPr/>
        </p:nvSpPr>
        <p:spPr>
          <a:xfrm>
            <a:off x="1276350" y="3409950"/>
            <a:ext cx="2647950" cy="1905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A0ADFD-446F-47A3-9000-6D3EB0D0C207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41F9D8-C919-43D8-A8D0-4984660AA819}"/>
              </a:ext>
            </a:extLst>
          </p:cNvPr>
          <p:cNvSpPr>
            <a:spLocks noGrp="1"/>
          </p:cNvSpPr>
          <p:nvPr/>
        </p:nvSpPr>
        <p:spPr>
          <a:xfrm>
            <a:off x="1276350" y="46672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57"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Can you distinguish acceptable from excellent?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47359F-1160-40AD-947D-BB1E3AC07186}"/>
              </a:ext>
            </a:extLst>
          </p:cNvPr>
          <p:cNvSpPr>
            <a:spLocks noGrp="1"/>
          </p:cNvSpPr>
          <p:nvPr/>
        </p:nvSpPr>
        <p:spPr>
          <a:xfrm>
            <a:off x="1276350" y="5562600"/>
            <a:ext cx="2647950" cy="1905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C0725-90AF-430B-A282-BCAA35509A30}"/>
              </a:ext>
            </a:extLst>
          </p:cNvPr>
          <p:cNvSpPr>
            <a:spLocks noGrp="1"/>
          </p:cNvSpPr>
          <p:nvPr/>
        </p:nvSpPr>
        <p:spPr>
          <a:xfrm>
            <a:off x="8267700" y="251460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365189-B2F7-45AA-BAE4-A47F5640B7F1}"/>
              </a:ext>
            </a:extLst>
          </p:cNvPr>
          <p:cNvSpPr>
            <a:spLocks noGrp="1"/>
          </p:cNvSpPr>
          <p:nvPr/>
        </p:nvSpPr>
        <p:spPr>
          <a:xfrm>
            <a:off x="8858250" y="251460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 you have final signoff and ownership?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E18385-F16E-416E-A234-C099CC72C02E}"/>
              </a:ext>
            </a:extLst>
          </p:cNvPr>
          <p:cNvSpPr>
            <a:spLocks noGrp="1"/>
          </p:cNvSpPr>
          <p:nvPr/>
        </p:nvSpPr>
        <p:spPr>
          <a:xfrm>
            <a:off x="8858250" y="3409950"/>
            <a:ext cx="2647950" cy="1905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813681-2B4D-4E44-906C-BFCE7B0EA9F8}"/>
              </a:ext>
            </a:extLst>
          </p:cNvPr>
          <p:cNvSpPr>
            <a:spLocks noGrp="1"/>
          </p:cNvSpPr>
          <p:nvPr/>
        </p:nvSpPr>
        <p:spPr>
          <a:xfrm>
            <a:off x="8267700" y="4667250"/>
            <a:ext cx="49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B6C4C1-8650-4B66-A457-99F464B8767B}"/>
              </a:ext>
            </a:extLst>
          </p:cNvPr>
          <p:cNvSpPr>
            <a:spLocks noGrp="1"/>
          </p:cNvSpPr>
          <p:nvPr/>
        </p:nvSpPr>
        <p:spPr>
          <a:xfrm>
            <a:off x="8858250" y="46672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Can you resolve edge cases and conflicting guidance?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D78D46-1D51-412E-9A78-B8821F157F57}"/>
              </a:ext>
            </a:extLst>
          </p:cNvPr>
          <p:cNvSpPr>
            <a:spLocks noGrp="1"/>
          </p:cNvSpPr>
          <p:nvPr/>
        </p:nvSpPr>
        <p:spPr>
          <a:xfrm>
            <a:off x="8858250" y="5562600"/>
            <a:ext cx="2647950" cy="19050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4D89FA-ED22-4927-9A49-464BF66AF31E}"/>
              </a:ext>
            </a:extLst>
          </p:cNvPr>
          <p:cNvSpPr>
            <a:spLocks noGrp="1"/>
          </p:cNvSpPr>
          <p:nvPr/>
        </p:nvSpPr>
        <p:spPr>
          <a:xfrm>
            <a:off x="2476500" y="61341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If the answer is “not yet,” co-author with the person who can sign off.</a:t>
            </a:r>
          </a:p>
        </p:txBody>
      </p:sp>
    </p:spTree>
    <p:extLst>
      <p:ext uri="{BB962C8B-B14F-4D97-AF65-F5344CB8AC3E}">
        <p14:creationId xmlns:p14="http://schemas.microsoft.com/office/powerpoint/2010/main" val="60551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A5A4EF9-BA08-492F-825B-01C4FEEE2A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30" name="Graphic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A152B2-FD05-41CC-9B4D-211373C1BD0E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03 · EXHAUSTIVE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72493-7201-46C7-B8D2-6670D8BD3605}"/>
              </a:ext>
            </a:extLst>
          </p:cNvPr>
          <p:cNvSpPr>
            <a:spLocks noGrp="1"/>
          </p:cNvSpPr>
          <p:nvPr/>
        </p:nvSpPr>
        <p:spPr>
          <a:xfrm>
            <a:off x="10953750" y="2476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DBE14B-3477-4E4F-BA3F-3CC49BBA7725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41"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Review the whole system across scenarios—not the happy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B59E2-2CF1-4A78-BA98-1930ADD84B1F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4A8F1-FD55-4F1F-BA74-447C4D0BB986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Coverage dimensions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6E888B-308F-4A9C-BF9C-FFFCD2A3F9DF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955ECC-DD26-4ACC-90D7-049A887689E5}"/>
              </a:ext>
            </a:extLst>
          </p:cNvPr>
          <p:cNvSpPr>
            <a:spLocks noGrp="1"/>
          </p:cNvSpPr>
          <p:nvPr/>
        </p:nvSpPr>
        <p:spPr>
          <a:xfrm>
            <a:off x="1943100" y="28956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web · mobile · slide · document · screenshot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CB599B-9B2D-4DE2-A275-7A3DA49D75B3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57AD-6146-4543-88E2-6C25E4A135FF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Viewport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542724-9CCC-46F7-A251-5063FB28D548}"/>
              </a:ext>
            </a:extLst>
          </p:cNvPr>
          <p:cNvSpPr>
            <a:spLocks noGrp="1"/>
          </p:cNvSpPr>
          <p:nvPr/>
        </p:nvSpPr>
        <p:spPr>
          <a:xfrm>
            <a:off x="1943100" y="349567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wide · narrow · zoomed · long content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03CED6-EB41-443A-99D6-9468124B89D1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0883A-0E54-4D5F-86C8-70B093227C1F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57C501-E2B1-4CA6-AFD0-17FBB1A00C6E}"/>
              </a:ext>
            </a:extLst>
          </p:cNvPr>
          <p:cNvSpPr>
            <a:spLocks noGrp="1"/>
          </p:cNvSpPr>
          <p:nvPr/>
        </p:nvSpPr>
        <p:spPr>
          <a:xfrm>
            <a:off x="1943100" y="4095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loading · empty · error · success · recovery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C89547-8E71-4C24-82BE-63EEB3BDEFBC}"/>
              </a:ext>
            </a:extLst>
          </p:cNvPr>
          <p:cNvSpPr>
            <a:spLocks noGrp="1"/>
          </p:cNvSpPr>
          <p:nvPr/>
        </p:nvSpPr>
        <p:spPr>
          <a:xfrm>
            <a:off x="685800" y="4486275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CD0793-248C-4785-8DA7-D40A8D5217C5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038EC2-E727-46C2-B4F9-71DBB3149B84}"/>
              </a:ext>
            </a:extLst>
          </p:cNvPr>
          <p:cNvSpPr>
            <a:spLocks noGrp="1"/>
          </p:cNvSpPr>
          <p:nvPr/>
        </p:nvSpPr>
        <p:spPr>
          <a:xfrm>
            <a:off x="1943100" y="4695825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light · dark · image-backed · dense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35AA2F-E60E-463F-8931-5D851EEE14A8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198163-A961-4B21-BE3F-DA32212CAA54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4D4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D4F91"/>
                </a:solidFill>
                <a:latin typeface="Arial"/>
                <a:ea typeface="Arial"/>
                <a:cs typeface="Arial"/>
              </a:rPr>
              <a:t>Mode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282EA7-1FF6-49EC-A391-5E6586374351}"/>
              </a:ext>
            </a:extLst>
          </p:cNvPr>
          <p:cNvSpPr>
            <a:spLocks noGrp="1"/>
          </p:cNvSpPr>
          <p:nvPr/>
        </p:nvSpPr>
        <p:spPr>
          <a:xfrm>
            <a:off x="1943100" y="52959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build from scratch · refactor · audit only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EE1B56-EA18-4746-B291-727DBC2C1EE2}"/>
              </a:ext>
            </a:extLst>
          </p:cNvPr>
          <p:cNvSpPr>
            <a:spLocks noGrp="1"/>
          </p:cNvSpPr>
          <p:nvPr/>
        </p:nvSpPr>
        <p:spPr>
          <a:xfrm>
            <a:off x="685800" y="5686425"/>
            <a:ext cx="5162550" cy="9525"/>
          </a:xfrm>
          <a:prstGeom prst="rect">
            <a:avLst/>
          </a:prstGeom>
          <a:solidFill>
            <a:srgbClr val="D7D3CE"/>
          </a:solidFill>
          <a:ln w="0">
            <a:solidFill>
              <a:srgbClr val="D7D3C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57EBDB-34EC-4FA4-95AE-F779F9378806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5029200" cy="3276600"/>
          </a:xfrm>
          <a:prstGeom prst="rect">
            <a:avLst/>
          </a:prstGeom>
          <a:solidFill>
            <a:srgbClr val="F7E8EB"/>
          </a:solidFill>
          <a:ln w="0">
            <a:noFill/>
            <a:prstDash val="solid"/>
          </a:ln>
        </p:spPr>
      </p:sp>
      <p:pic>
        <p:nvPicPr>
          <p:cNvPr id="52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96100" y="2705100"/>
            <a:ext cx="723900" cy="7239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75F01AC-1857-431A-8A16-8E723674403D}"/>
              </a:ext>
            </a:extLst>
          </p:cNvPr>
          <p:cNvSpPr>
            <a:spLocks noGrp="1"/>
          </p:cNvSpPr>
          <p:nvPr/>
        </p:nvSpPr>
        <p:spPr>
          <a:xfrm>
            <a:off x="7848600" y="2743200"/>
            <a:ext cx="3124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What the review caught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553A0F-1D65-4EA2-A14C-EB0237D46F9A}"/>
              </a:ext>
            </a:extLst>
          </p:cNvPr>
          <p:cNvSpPr>
            <a:spLocks noGrp="1"/>
          </p:cNvSpPr>
          <p:nvPr/>
        </p:nvSpPr>
        <p:spPr>
          <a:xfrm>
            <a:off x="6896100" y="3581400"/>
            <a:ext cx="40957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737"/>
          </a:bodyPr>
          <a:lstStyle/>
          <a:p>
            <a:pPr algn="l">
              <a:lnSpc>
                <a:spcPct val="118000"/>
              </a:lnSpc>
              <a:buNone/>
              <a:defRPr sz="150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Yellow text on a white section.</a:t>
            </a: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Icons carrying white plates that failed on colored backgrounds.</a:t>
            </a: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Wordmark weight and scale that drifted from the intended reference.</a:t>
            </a:r>
          </a:p>
          <a:p>
            <a:pPr algn="l">
              <a:lnSpc>
                <a:spcPct val="118000"/>
              </a:lnSpc>
              <a:buNone/>
              <a:defRPr sz="150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preview page that was too narrow to demonstrate the full system.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1BC03C-177F-4F12-937B-C7185648B623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5029200" cy="590550"/>
          </a:xfrm>
          <a:prstGeom prst="rect">
            <a:avLst/>
          </a:prstGeom>
          <a:solidFill>
            <a:srgbClr val="F4C145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B26A52-B4AD-4505-95FD-C685FA3665F8}"/>
              </a:ext>
            </a:extLst>
          </p:cNvPr>
          <p:cNvSpPr>
            <a:spLocks noGrp="1"/>
          </p:cNvSpPr>
          <p:nvPr/>
        </p:nvSpPr>
        <p:spPr>
          <a:xfrm>
            <a:off x="6762750" y="5981700"/>
            <a:ext cx="445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12"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failures become new guidance—and new tests.</a:t>
            </a:r>
          </a:p>
        </p:txBody>
      </p:sp>
    </p:spTree>
    <p:extLst>
      <p:ext uri="{BB962C8B-B14F-4D97-AF65-F5344CB8AC3E}">
        <p14:creationId xmlns:p14="http://schemas.microsoft.com/office/powerpoint/2010/main" val="28753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979B912-1951-426B-A3FA-DE0B540C19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4A47BD-10A9-4E1C-85CB-8DD020A20572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04 · FEEDBACK LOOPS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F8179C-B50E-4A0C-9869-0B84431ABB3C}"/>
              </a:ext>
            </a:extLst>
          </p:cNvPr>
          <p:cNvSpPr>
            <a:spLocks noGrp="1"/>
          </p:cNvSpPr>
          <p:nvPr/>
        </p:nvSpPr>
        <p:spPr>
          <a:xfrm>
            <a:off x="10953750" y="2476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1A7184-1184-42C3-9F7E-846FB0B3D1D9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781"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Deterministic self-checks let agents iterate farther on their own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3FA30A-63A0-4123-8646-08FCA2AE959F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2BC914-977A-4B7C-B70E-401D79477FF9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723900" cy="7239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E68394-41B6-4704-B6F8-576EB77C44FD}"/>
              </a:ext>
            </a:extLst>
          </p:cNvPr>
          <p:cNvSpPr>
            <a:spLocks noGrp="1"/>
          </p:cNvSpPr>
          <p:nvPr/>
        </p:nvSpPr>
        <p:spPr>
          <a:xfrm>
            <a:off x="886460" y="2860675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63E5A6-D374-476E-8AC2-B155F8C5C04B}"/>
              </a:ext>
            </a:extLst>
          </p:cNvPr>
          <p:cNvSpPr>
            <a:spLocks noGrp="1"/>
          </p:cNvSpPr>
          <p:nvPr/>
        </p:nvSpPr>
        <p:spPr>
          <a:xfrm>
            <a:off x="323850" y="36099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802507-F954-44A6-A04E-E03D20D569ED}"/>
              </a:ext>
            </a:extLst>
          </p:cNvPr>
          <p:cNvSpPr>
            <a:spLocks noGrp="1"/>
          </p:cNvSpPr>
          <p:nvPr/>
        </p:nvSpPr>
        <p:spPr>
          <a:xfrm>
            <a:off x="182880" y="3971925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Translate the ask into explicit constraints.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EB03D-462F-4561-99FE-166B0E56A5C8}"/>
              </a:ext>
            </a:extLst>
          </p:cNvPr>
          <p:cNvSpPr>
            <a:spLocks noGrp="1"/>
          </p:cNvSpPr>
          <p:nvPr/>
        </p:nvSpPr>
        <p:spPr>
          <a:xfrm>
            <a:off x="2152650" y="278130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6DF831-2744-404E-9D3D-2BED962F091E}"/>
              </a:ext>
            </a:extLst>
          </p:cNvPr>
          <p:cNvSpPr>
            <a:spLocks noGrp="1"/>
          </p:cNvSpPr>
          <p:nvPr/>
        </p:nvSpPr>
        <p:spPr>
          <a:xfrm>
            <a:off x="2838450" y="2667000"/>
            <a:ext cx="723900" cy="7239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EBA73A-D1B2-418B-8DEF-2DBE56AA7467}"/>
              </a:ext>
            </a:extLst>
          </p:cNvPr>
          <p:cNvSpPr>
            <a:spLocks noGrp="1"/>
          </p:cNvSpPr>
          <p:nvPr/>
        </p:nvSpPr>
        <p:spPr>
          <a:xfrm>
            <a:off x="3039110" y="2860675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A36DBE-A6A2-4698-8144-582F1E6C0C37}"/>
              </a:ext>
            </a:extLst>
          </p:cNvPr>
          <p:cNvSpPr>
            <a:spLocks noGrp="1"/>
          </p:cNvSpPr>
          <p:nvPr/>
        </p:nvSpPr>
        <p:spPr>
          <a:xfrm>
            <a:off x="2476500" y="36099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EAFE0-9D32-411C-9842-2A88BFDBFB42}"/>
              </a:ext>
            </a:extLst>
          </p:cNvPr>
          <p:cNvSpPr>
            <a:spLocks noGrp="1"/>
          </p:cNvSpPr>
          <p:nvPr/>
        </p:nvSpPr>
        <p:spPr>
          <a:xfrm>
            <a:off x="2335530" y="3971925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Generate the smallest complete artifact.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768494-3C5E-4E0F-B046-C3FB79A5AFDD}"/>
              </a:ext>
            </a:extLst>
          </p:cNvPr>
          <p:cNvSpPr>
            <a:spLocks noGrp="1"/>
          </p:cNvSpPr>
          <p:nvPr/>
        </p:nvSpPr>
        <p:spPr>
          <a:xfrm>
            <a:off x="4305300" y="278130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DFB616-5552-40EA-BB54-B7D24DF7B93B}"/>
              </a:ext>
            </a:extLst>
          </p:cNvPr>
          <p:cNvSpPr>
            <a:spLocks noGrp="1"/>
          </p:cNvSpPr>
          <p:nvPr/>
        </p:nvSpPr>
        <p:spPr>
          <a:xfrm>
            <a:off x="4991100" y="2667000"/>
            <a:ext cx="723900" cy="7239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120A25-B526-4019-B8C5-93E2F17F5F8F}"/>
              </a:ext>
            </a:extLst>
          </p:cNvPr>
          <p:cNvSpPr>
            <a:spLocks noGrp="1"/>
          </p:cNvSpPr>
          <p:nvPr/>
        </p:nvSpPr>
        <p:spPr>
          <a:xfrm>
            <a:off x="5191760" y="2860675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7A703-403B-408F-8CAD-EE2164516943}"/>
              </a:ext>
            </a:extLst>
          </p:cNvPr>
          <p:cNvSpPr>
            <a:spLocks noGrp="1"/>
          </p:cNvSpPr>
          <p:nvPr/>
        </p:nvSpPr>
        <p:spPr>
          <a:xfrm>
            <a:off x="4629150" y="36099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8E9C0F-929E-4291-B8A7-FD18276249F1}"/>
              </a:ext>
            </a:extLst>
          </p:cNvPr>
          <p:cNvSpPr>
            <a:spLocks noGrp="1"/>
          </p:cNvSpPr>
          <p:nvPr/>
        </p:nvSpPr>
        <p:spPr>
          <a:xfrm>
            <a:off x="4488180" y="3971925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Run deterministic tests and validators.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B1F48F-C5C3-40C0-9EB2-20C24E8187CE}"/>
              </a:ext>
            </a:extLst>
          </p:cNvPr>
          <p:cNvSpPr>
            <a:spLocks noGrp="1"/>
          </p:cNvSpPr>
          <p:nvPr/>
        </p:nvSpPr>
        <p:spPr>
          <a:xfrm>
            <a:off x="6457950" y="278130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59B7F7-4D93-45DD-9D3F-A7F8BCE47F5C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723900" cy="7239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81A570-1430-4230-87D8-5094413642F5}"/>
              </a:ext>
            </a:extLst>
          </p:cNvPr>
          <p:cNvSpPr>
            <a:spLocks noGrp="1"/>
          </p:cNvSpPr>
          <p:nvPr/>
        </p:nvSpPr>
        <p:spPr>
          <a:xfrm>
            <a:off x="7344410" y="2860675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7D4A26-1C8B-49DA-A18F-C8EAE25A2A5D}"/>
              </a:ext>
            </a:extLst>
          </p:cNvPr>
          <p:cNvSpPr>
            <a:spLocks noGrp="1"/>
          </p:cNvSpPr>
          <p:nvPr/>
        </p:nvSpPr>
        <p:spPr>
          <a:xfrm>
            <a:off x="6781800" y="36099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18AE74-5315-4780-88DA-45B86353980F}"/>
              </a:ext>
            </a:extLst>
          </p:cNvPr>
          <p:cNvSpPr>
            <a:spLocks noGrp="1"/>
          </p:cNvSpPr>
          <p:nvPr/>
        </p:nvSpPr>
        <p:spPr>
          <a:xfrm>
            <a:off x="6640830" y="3971925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Render and review behavior and visual output.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1D8464-6D94-4A6D-8496-E6E5554CD1B8}"/>
              </a:ext>
            </a:extLst>
          </p:cNvPr>
          <p:cNvSpPr>
            <a:spLocks noGrp="1"/>
          </p:cNvSpPr>
          <p:nvPr/>
        </p:nvSpPr>
        <p:spPr>
          <a:xfrm>
            <a:off x="8610600" y="278130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8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961E19A-47B4-4AC7-A648-FB66203ED4DD}"/>
              </a:ext>
            </a:extLst>
          </p:cNvPr>
          <p:cNvSpPr>
            <a:spLocks noGrp="1"/>
          </p:cNvSpPr>
          <p:nvPr/>
        </p:nvSpPr>
        <p:spPr>
          <a:xfrm>
            <a:off x="9296400" y="2667000"/>
            <a:ext cx="723900" cy="723900"/>
          </a:xfrm>
          <a:prstGeom prst="ellipse">
            <a:avLst/>
          </a:prstGeom>
          <a:solidFill>
            <a:srgbClr val="4D4F91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D02A5C-3B4B-4D19-9545-C8B41A8A18C4}"/>
              </a:ext>
            </a:extLst>
          </p:cNvPr>
          <p:cNvSpPr>
            <a:spLocks noGrp="1"/>
          </p:cNvSpPr>
          <p:nvPr/>
        </p:nvSpPr>
        <p:spPr>
          <a:xfrm>
            <a:off x="9497060" y="2860675"/>
            <a:ext cx="342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6D9A44-DA6C-4CC0-8637-D8B7632982FA}"/>
              </a:ext>
            </a:extLst>
          </p:cNvPr>
          <p:cNvSpPr>
            <a:spLocks noGrp="1"/>
          </p:cNvSpPr>
          <p:nvPr/>
        </p:nvSpPr>
        <p:spPr>
          <a:xfrm>
            <a:off x="8934450" y="36099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Improve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2189E5-2AE1-4D49-B9F3-C633382DCDCD}"/>
              </a:ext>
            </a:extLst>
          </p:cNvPr>
          <p:cNvSpPr>
            <a:spLocks noGrp="1"/>
          </p:cNvSpPr>
          <p:nvPr/>
        </p:nvSpPr>
        <p:spPr>
          <a:xfrm>
            <a:off x="8793480" y="3971925"/>
            <a:ext cx="19240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56565A"/>
                </a:solidFill>
                <a:latin typeface="Arial"/>
                <a:ea typeface="Arial"/>
                <a:cs typeface="Arial"/>
              </a:rPr>
              <a:t>Fix, rerun, and feed the learning back.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916A42-8F7D-4C9E-AA36-EA5233F9ECF0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52197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E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D7ED83-962A-4679-B89D-631A7E7FA52C}"/>
              </a:ext>
            </a:extLst>
          </p:cNvPr>
          <p:cNvSpPr>
            <a:spLocks noGrp="1"/>
          </p:cNvSpPr>
          <p:nvPr/>
        </p:nvSpPr>
        <p:spPr>
          <a:xfrm>
            <a:off x="933450" y="551497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2E75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E755C"/>
                </a:solidFill>
                <a:latin typeface="Arial"/>
                <a:ea typeface="Arial"/>
                <a:cs typeface="Arial"/>
              </a:rPr>
              <a:t>PROGRAMMATIC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89E248-512A-4FF4-911D-F6DDAD16B69C}"/>
              </a:ext>
            </a:extLst>
          </p:cNvPr>
          <p:cNvSpPr>
            <a:spLocks noGrp="1"/>
          </p:cNvSpPr>
          <p:nvPr/>
        </p:nvSpPr>
        <p:spPr>
          <a:xfrm>
            <a:off x="933450" y="5829300"/>
            <a:ext cx="468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081"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schema · lint · contrast · assets · responsive rules · golden traces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F12A67-9A06-4707-BF1D-B2D479E1E65C}"/>
              </a:ext>
            </a:extLst>
          </p:cNvPr>
          <p:cNvSpPr>
            <a:spLocks noGrp="1"/>
          </p:cNvSpPr>
          <p:nvPr/>
        </p:nvSpPr>
        <p:spPr>
          <a:xfrm>
            <a:off x="6286500" y="5314950"/>
            <a:ext cx="52197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3CE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BAB5C8-5DEA-4832-874C-408709619728}"/>
              </a:ext>
            </a:extLst>
          </p:cNvPr>
          <p:cNvSpPr>
            <a:spLocks noGrp="1"/>
          </p:cNvSpPr>
          <p:nvPr/>
        </p:nvSpPr>
        <p:spPr>
          <a:xfrm>
            <a:off x="6534150" y="551497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HUMAN / SME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5222A4-4C43-41D8-A45A-30E92DB34A3F}"/>
              </a:ext>
            </a:extLst>
          </p:cNvPr>
          <p:cNvSpPr>
            <a:spLocks noGrp="1"/>
          </p:cNvSpPr>
          <p:nvPr/>
        </p:nvSpPr>
        <p:spPr>
          <a:xfrm>
            <a:off x="6534150" y="5829300"/>
            <a:ext cx="468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intent · judgment · trust · usability · edge-case acceptance</a:t>
            </a:r>
          </a:p>
        </p:txBody>
      </p:sp>
    </p:spTree>
    <p:extLst>
      <p:ext uri="{BB962C8B-B14F-4D97-AF65-F5344CB8AC3E}">
        <p14:creationId xmlns:p14="http://schemas.microsoft.com/office/powerpoint/2010/main" val="885795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6B575F7-0184-4452-82CD-875CC40A06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28" name="Graphic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257175"/>
            <a:ext cx="203835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F7FF32-A25D-42AB-BDEF-7DB4A74F4312}"/>
              </a:ext>
            </a:extLst>
          </p:cNvPr>
          <p:cNvSpPr>
            <a:spLocks noGrp="1"/>
          </p:cNvSpPr>
          <p:nvPr/>
        </p:nvSpPr>
        <p:spPr>
          <a:xfrm>
            <a:off x="733425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COMPOSITION, NOT DUPLICATION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C3CFE0-3EC8-4547-AA76-3176459CA3C0}"/>
              </a:ext>
            </a:extLst>
          </p:cNvPr>
          <p:cNvSpPr>
            <a:spLocks noGrp="1"/>
          </p:cNvSpPr>
          <p:nvPr/>
        </p:nvSpPr>
        <p:spPr>
          <a:xfrm>
            <a:off x="10953750" y="2476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4907FE-3EFE-4864-BF3F-0D73274327FF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000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Keep each </a:t>
            </a:r>
            <a:r>
              <a:rPr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skill opinionated</a:t>
            </a:r>
            <a:r>
              <a:rPr lang="en-US"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and </a:t>
            </a:r>
            <a:r>
              <a:rPr sz="3000" b="1" i="0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composable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97DBA-3671-4C17-8229-D00EFCB1CFBD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914400" cy="57150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71A089-B969-4FA2-A02B-143343C6D47C}"/>
              </a:ext>
            </a:extLst>
          </p:cNvPr>
          <p:cNvSpPr>
            <a:spLocks noGrp="1"/>
          </p:cNvSpPr>
          <p:nvPr/>
        </p:nvSpPr>
        <p:spPr>
          <a:xfrm>
            <a:off x="4448175" y="2667000"/>
            <a:ext cx="3295650" cy="2476500"/>
          </a:xfrm>
          <a:prstGeom prst="ellipse">
            <a:avLst/>
          </a:prstGeom>
          <a:solidFill>
            <a:srgbClr val="B01C2E"/>
          </a:solidFill>
          <a:ln w="0">
            <a:noFill/>
            <a:prstDash val="solid"/>
          </a:ln>
        </p:spPr>
      </p:sp>
      <p:pic>
        <p:nvPicPr>
          <p:cNvPr id="34" name="Graphic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534025" y="3028950"/>
            <a:ext cx="1123950" cy="11239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7D1E905-BA80-49F8-81B1-2096DBE48552}"/>
              </a:ext>
            </a:extLst>
          </p:cNvPr>
          <p:cNvSpPr>
            <a:spLocks noGrp="1"/>
          </p:cNvSpPr>
          <p:nvPr/>
        </p:nvSpPr>
        <p:spPr>
          <a:xfrm>
            <a:off x="4857750" y="44005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Horizon Bank 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CAE824-A848-4F8E-A550-6095CF948529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2857500" cy="150495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pic>
        <p:nvPicPr>
          <p:cNvPr id="37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14400" y="2781300"/>
            <a:ext cx="514350" cy="5143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9B5648-6ED4-4643-8D16-E02C8AD86D04}"/>
              </a:ext>
            </a:extLst>
          </p:cNvPr>
          <p:cNvSpPr>
            <a:spLocks noGrp="1"/>
          </p:cNvSpPr>
          <p:nvPr/>
        </p:nvSpPr>
        <p:spPr>
          <a:xfrm>
            <a:off x="1600200" y="277177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Frontend builder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D7AAC2-1145-4475-AE28-A17342EAF984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Framework patterns and implementation craft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5B775F-C8F5-4190-BA44-FB502E852B2F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2857500" cy="150495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pic>
        <p:nvPicPr>
          <p:cNvPr id="41" name="Graphic 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4400" y="4857750"/>
            <a:ext cx="514350" cy="5143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E5118E3-E524-4B27-A305-F99BE06D73AB}"/>
              </a:ext>
            </a:extLst>
          </p:cNvPr>
          <p:cNvSpPr>
            <a:spLocks noGrp="1"/>
          </p:cNvSpPr>
          <p:nvPr/>
        </p:nvSpPr>
        <p:spPr>
          <a:xfrm>
            <a:off x="1600200" y="48482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Playwright / browser QA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F2A43F-F454-4AC0-83FE-1BFC5A48CD6F}"/>
              </a:ext>
            </a:extLst>
          </p:cNvPr>
          <p:cNvSpPr>
            <a:spLocks noGrp="1"/>
          </p:cNvSpPr>
          <p:nvPr/>
        </p:nvSpPr>
        <p:spPr>
          <a:xfrm>
            <a:off x="914400" y="55054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Interaction, viewport, screenshot, and regression testing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68EE88-37C6-4118-B9A4-5902A02B9CA8}"/>
              </a:ext>
            </a:extLst>
          </p:cNvPr>
          <p:cNvSpPr>
            <a:spLocks noGrp="1"/>
          </p:cNvSpPr>
          <p:nvPr/>
        </p:nvSpPr>
        <p:spPr>
          <a:xfrm>
            <a:off x="8648700" y="2514600"/>
            <a:ext cx="2857500" cy="150495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pic>
        <p:nvPicPr>
          <p:cNvPr id="45" name="Graphic 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877300" y="2781300"/>
            <a:ext cx="514350" cy="5143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5AD7F52-F071-4E7A-BCCB-C9F35E2B53DB}"/>
              </a:ext>
            </a:extLst>
          </p:cNvPr>
          <p:cNvSpPr>
            <a:spLocks noGrp="1"/>
          </p:cNvSpPr>
          <p:nvPr/>
        </p:nvSpPr>
        <p:spPr>
          <a:xfrm>
            <a:off x="9563100" y="277177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Audit and accessibility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326EE5-8E7E-4D8A-B9EC-A5BE2EC27737}"/>
              </a:ext>
            </a:extLst>
          </p:cNvPr>
          <p:cNvSpPr>
            <a:spLocks noGrp="1"/>
          </p:cNvSpPr>
          <p:nvPr/>
        </p:nvSpPr>
        <p:spPr>
          <a:xfrm>
            <a:off x="8877300" y="342900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Evidence, semantic checks, specialist review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089D0C-B009-40C9-BC10-3C0D6D961B76}"/>
              </a:ext>
            </a:extLst>
          </p:cNvPr>
          <p:cNvSpPr>
            <a:spLocks noGrp="1"/>
          </p:cNvSpPr>
          <p:nvPr/>
        </p:nvSpPr>
        <p:spPr>
          <a:xfrm>
            <a:off x="8648700" y="4591050"/>
            <a:ext cx="2857500" cy="1504950"/>
          </a:xfrm>
          <a:prstGeom prst="rect">
            <a:avLst/>
          </a:prstGeom>
          <a:solidFill>
            <a:srgbClr val="F5F1EA"/>
          </a:solidFill>
          <a:ln w="0">
            <a:noFill/>
            <a:prstDash val="solid"/>
          </a:ln>
        </p:spPr>
      </p:sp>
      <p:pic>
        <p:nvPicPr>
          <p:cNvPr id="49" name="Graphic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877300" y="4857750"/>
            <a:ext cx="514350" cy="5143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C722916-511D-4D31-9638-D263F7DDFCF1}"/>
              </a:ext>
            </a:extLst>
          </p:cNvPr>
          <p:cNvSpPr>
            <a:spLocks noGrp="1"/>
          </p:cNvSpPr>
          <p:nvPr/>
        </p:nvSpPr>
        <p:spPr>
          <a:xfrm>
            <a:off x="9563100" y="48482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Documents and slides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08CB77-06EF-4340-BBB4-4C416011E387}"/>
              </a:ext>
            </a:extLst>
          </p:cNvPr>
          <p:cNvSpPr>
            <a:spLocks noGrp="1"/>
          </p:cNvSpPr>
          <p:nvPr/>
        </p:nvSpPr>
        <p:spPr>
          <a:xfrm>
            <a:off x="8877300" y="55054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0" i="0">
                <a:solidFill>
                  <a:srgbClr val="5656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565A"/>
                </a:solidFill>
                <a:latin typeface="Arial"/>
                <a:ea typeface="Arial"/>
                <a:cs typeface="Arial"/>
              </a:rPr>
              <a:t>Artifact-specific layout and export validation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7B8042-734C-4CE7-BA37-00E5423E8DBD}"/>
              </a:ext>
            </a:extLst>
          </p:cNvPr>
          <p:cNvSpPr>
            <a:spLocks noGrp="1"/>
          </p:cNvSpPr>
          <p:nvPr/>
        </p:nvSpPr>
        <p:spPr>
          <a:xfrm>
            <a:off x="2781300" y="6096000"/>
            <a:ext cx="662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B01C2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01C2E"/>
                </a:solidFill>
                <a:latin typeface="Arial"/>
                <a:ea typeface="Arial"/>
                <a:cs typeface="Arial"/>
              </a:rPr>
              <a:t>A plugin is a bundle. A successful workflow is a composition.</a:t>
            </a:r>
          </a:p>
        </p:txBody>
      </p:sp>
    </p:spTree>
    <p:extLst>
      <p:ext uri="{BB962C8B-B14F-4D97-AF65-F5344CB8AC3E}">
        <p14:creationId xmlns:p14="http://schemas.microsoft.com/office/powerpoint/2010/main" val="79848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28803" r="28803"/>
          <a:stretch>
            <a:fillRect/>
          </a:stretch>
        </p:blipFill>
        <p:spPr>
          <a:xfrm>
            <a:off x="7543800" y="0"/>
            <a:ext cx="46482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3F9D2F-EC79-4982-A745-D9B1D7ECE36B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1524000" cy="6858000"/>
          </a:xfrm>
          <a:prstGeom prst="rect">
            <a:avLst/>
          </a:prstGeom>
          <a:gradFill>
            <a:gsLst>
              <a:gs pos="0">
                <a:srgbClr val="B01C2E"/>
              </a:gs>
              <a:gs pos="100000">
                <a:srgbClr val="B01C2E">
                  <a:alpha val="6275"/>
                </a:srgbClr>
              </a:gs>
            </a:gsLst>
            <a:lin ang="0"/>
          </a:gradFill>
          <a:ln w="0">
            <a:noFill/>
            <a:prstDash val="solid"/>
          </a:ln>
        </p:spPr>
      </p:sp>
      <p:pic>
        <p:nvPicPr>
          <p:cNvPr id="21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5800" y="457200"/>
            <a:ext cx="2190750" cy="323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37937B-4F7C-420C-AA98-98DBF1415856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6191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857"/>
          </a:bodyPr>
          <a:lstStyle/>
          <a:p>
            <a:pPr algn="l">
              <a:lnSpc>
                <a:spcPct val="95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skill your future agents deserve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BE988D-2BD4-4A0D-9B96-17CF72B02EC5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1009650" cy="66675"/>
          </a:xfrm>
          <a:prstGeom prst="rect">
            <a:avLst/>
          </a:prstGeom>
          <a:solidFill>
            <a:srgbClr val="F4C145"/>
          </a:solidFill>
          <a:ln w="0">
            <a:solidFill>
              <a:srgbClr val="F4C14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41379-0DBE-4EA2-ABA6-D3B04F80F1A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3D2A11-62E8-4BB8-B6DE-6DF8220C3275}"/>
              </a:ext>
            </a:extLst>
          </p:cNvPr>
          <p:cNvSpPr>
            <a:spLocks noGrp="1"/>
          </p:cNvSpPr>
          <p:nvPr/>
        </p:nvSpPr>
        <p:spPr>
          <a:xfrm>
            <a:off x="1238250" y="28384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the SME’s real decisions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1D5057-55ED-4061-8DE7-A4366017B713}"/>
              </a:ext>
            </a:extLst>
          </p:cNvPr>
          <p:cNvSpPr>
            <a:spLocks noGrp="1"/>
          </p:cNvSpPr>
          <p:nvPr/>
        </p:nvSpPr>
        <p:spPr>
          <a:xfrm>
            <a:off x="685800" y="3381375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34A6E4-5D19-4C2D-8D37-3082D7CE6F77}"/>
              </a:ext>
            </a:extLst>
          </p:cNvPr>
          <p:cNvSpPr>
            <a:spLocks noGrp="1"/>
          </p:cNvSpPr>
          <p:nvPr/>
        </p:nvSpPr>
        <p:spPr>
          <a:xfrm>
            <a:off x="1238250" y="336232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Separate principles from tool mechanics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9CF1D6-163B-4EDD-B3B2-2A8B6EA059CA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0E952-220E-4E0B-891C-FE2A55C0B849}"/>
              </a:ext>
            </a:extLst>
          </p:cNvPr>
          <p:cNvSpPr>
            <a:spLocks noGrp="1"/>
          </p:cNvSpPr>
          <p:nvPr/>
        </p:nvSpPr>
        <p:spPr>
          <a:xfrm>
            <a:off x="1238250" y="38862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 guidance, examples, assets, and validators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23F18F-B8B7-4F39-AF89-440F7EC7548F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36A82E-01BC-4795-99EC-12819384C0D0}"/>
              </a:ext>
            </a:extLst>
          </p:cNvPr>
          <p:cNvSpPr>
            <a:spLocks noGrp="1"/>
          </p:cNvSpPr>
          <p:nvPr/>
        </p:nvSpPr>
        <p:spPr>
          <a:xfrm>
            <a:off x="1238250" y="441007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across scenarios and agents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A1CA08-4E34-4773-8331-1D8B372D608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63F49-9900-4576-B17B-E1DA2030F9F7}"/>
              </a:ext>
            </a:extLst>
          </p:cNvPr>
          <p:cNvSpPr>
            <a:spLocks noGrp="1"/>
          </p:cNvSpPr>
          <p:nvPr/>
        </p:nvSpPr>
        <p:spPr>
          <a:xfrm>
            <a:off x="1238250" y="49339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human and programmatic feedback loops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6FC145-F85A-47E5-A440-392E3830E5B0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C14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994812-3255-45CC-9995-434D33BCE2E3}"/>
              </a:ext>
            </a:extLst>
          </p:cNvPr>
          <p:cNvSpPr>
            <a:spLocks noGrp="1"/>
          </p:cNvSpPr>
          <p:nvPr/>
        </p:nvSpPr>
        <p:spPr>
          <a:xfrm>
            <a:off x="1238250" y="545782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 signoff—and keep improving the skill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1BBC8-B5F7-411E-A7B9-C1CCAEAD2C99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609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The model brings intelligence.</a:t>
            </a:r>
          </a:p>
          <a:p>
            <a:pPr algn="l">
              <a:lnSpc>
                <a:spcPct val="105000"/>
              </a:lnSpc>
              <a:buNone/>
              <a:defRPr sz="1650" b="1" i="0">
                <a:solidFill>
                  <a:srgbClr val="F4C145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F4C145"/>
                </a:solidFill>
                <a:latin typeface="Arial"/>
                <a:ea typeface="Arial"/>
                <a:cs typeface="Arial"/>
              </a:rPr>
              <a:t>The skill brings your way of working.</a:t>
            </a:r>
          </a:p>
        </p:txBody>
      </p:sp>
    </p:spTree>
    <p:extLst>
      <p:ext uri="{BB962C8B-B14F-4D97-AF65-F5344CB8AC3E}">
        <p14:creationId xmlns:p14="http://schemas.microsoft.com/office/powerpoint/2010/main" val="17133294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2485</Words>
  <Application>Microsoft Macintosh PowerPoint</Application>
  <DocSecurity>0</DocSecurity>
  <PresentationFormat>Widescreen</PresentationFormat>
  <Paragraphs>285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Ramesh Yarlagadda</cp:lastModifiedBy>
  <cp:revision>3</cp:revision>
  <dcterms:created xsi:type="dcterms:W3CDTF">2026-07-27T16:19:01Z</dcterms:created>
  <dcterms:modified xsi:type="dcterms:W3CDTF">2026-07-27T17:02:39Z</dcterms:modified>
</cp:coreProperties>
</file>