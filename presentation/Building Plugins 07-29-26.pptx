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57" r:id="rId2"/>
    <p:sldId id="257" r:id="rId3"/>
    <p:sldId id="262" r:id="rId4"/>
    <p:sldId id="260" r:id="rId5"/>
    <p:sldId id="258" r:id="rId6"/>
    <p:sldId id="263" r:id="rId7"/>
    <p:sldId id="506" r:id="rId8"/>
    <p:sldId id="264" r:id="rId9"/>
    <p:sldId id="5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FE2A3D-79CD-1994-F968-E40BA6771B86}" name="Laurente, Hannah Laurene H." initials="LHLH" userId="S::Hannahlaurene.H.Laurente@wellsfargo.com::09fcde6f-bfb6-494c-97c4-ab3144b951ce" providerId="AD"/>
  <p188:author id="{621459A5-E3E9-EDB0-BC32-2C858A307C6A}" name="Mei Wing Chan (Siegel+Gale San Francisco)" initials="MWC(SF" userId="S::mchan@siegelgale.com::7ea02a5d-30f1-4f98-921b-8e87cad3846f" providerId="AD"/>
  <p188:author id="{429D09AE-0AE6-E95D-7400-929290E5F0F1}" name="Burcat, Adrienne" initials="" userId="S::adrienne.burcat@wellsfargo.com::20c876cb-8fc9-42bf-9099-c80b998ce261" providerId="AD"/>
  <p188:author id="{FFE03AF7-398B-DF59-D07F-8E0A7987B25E}" name="AnaCristina Tamasese (Fogcutter)" initials="" userId="S::atamasese@fogcutterco.com::476074cd-3709-4f79-8dd6-b2137aa1426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  <p:cmAuthor id="2" name="Nelson, Brook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469B"/>
    <a:srgbClr val="AA1E87"/>
    <a:srgbClr val="D73F26"/>
    <a:srgbClr val="EB691E"/>
    <a:srgbClr val="FFFFFF"/>
    <a:srgbClr val="B5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2FFF61B-D25C-49D6-9A28-29191314A49D}">
  <a:tblStyle styleId="{A2FFF61B-D25C-49D6-9A28-29191314A49D}" styleName="Wells Fargo Table 01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dk1"/>
              </a:solidFill>
            </a:ln>
          </a:top>
          <a:bottom>
            <a:ln w="6350">
              <a:solidFill>
                <a:schemeClr val="dk1"/>
              </a:solidFill>
            </a:ln>
          </a:bottom>
          <a:insideH>
            <a:ln w="6350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lastRow>
      <a:tcTxStyle b="on">
        <a:fontRef idx="minor"/>
        <a:schemeClr val="dk1"/>
      </a:tcTxStyle>
      <a:tcStyle>
        <a:tcBdr>
          <a:top>
            <a:ln w="19050">
              <a:solidFill>
                <a:schemeClr val="dk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lt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48" autoAdjust="0"/>
    <p:restoredTop sz="96327" autoAdjust="0"/>
  </p:normalViewPr>
  <p:slideViewPr>
    <p:cSldViewPr snapToGrid="0" showGuides="1">
      <p:cViewPr varScale="1">
        <p:scale>
          <a:sx n="159" d="100"/>
          <a:sy n="159" d="100"/>
        </p:scale>
        <p:origin x="1224" y="176"/>
      </p:cViewPr>
      <p:guideLst/>
    </p:cSldViewPr>
  </p:slideViewPr>
  <p:outlineViewPr>
    <p:cViewPr>
      <p:scale>
        <a:sx n="33" d="100"/>
        <a:sy n="33" d="100"/>
      </p:scale>
      <p:origin x="0" y="-551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sequence. Horizon Bank is not a loose reskin: it was derived after the source design practice was captured, then rebuilt as a synthetic stand-in and tested by agents.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/Users/rameshyarlagadda/.codex/plugins/cache/personal/horizon-bank-design/1.0.0+codex.20260727155802/.codex-plugin/plugin.json</a:t>
            </a:r>
          </a:p>
          <a:p>
            <a:r>
              <a:t>- /Users/rameshyarlagadda/.codex/plugins/cache/personal/horizon-bank-design/1.0.0+codex.20260727155802/skills/build-horizon-bank-ui/SKILL.md</a:t>
            </a:r>
          </a:p>
          <a:p>
            <a:r>
              <a:t>- /Users/rameshyarlagadda/.codex/plugins/cache/personal/horizon-bank-design/1.0.0+codex.20260727155802/skills/audit-horizon-bank-ui/SKILL.md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skill externalizes expert judgment. If nobody can own the quality bar, the artifact may be tidy but it will not be trustworthy.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this as a dated market snapshot. Skills use a converging open format; packaging differs. Treat extensions as the Gemini CLI equivalent of a plugin bundle for this comparison.</a:t>
            </a:r>
          </a:p>
          <a:p>
            <a:endParaRPr/>
          </a:p>
          <a:p>
            <a:r>
              <a:t>[Sources]</a:t>
            </a:r>
          </a:p>
          <a:p>
            <a:r>
              <a:t>- https://help.openai.com/en/articles/20001256-plugins-in-codex/</a:t>
            </a:r>
          </a:p>
          <a:p>
            <a:r>
              <a:t>- https://openai.com/codex/</a:t>
            </a:r>
          </a:p>
          <a:p>
            <a:r>
              <a:t>- https://code.claude.com/docs/en/plugins</a:t>
            </a:r>
          </a:p>
          <a:p>
            <a:r>
              <a:t>- https://code.claude.com/docs/en/slash-commands</a:t>
            </a:r>
          </a:p>
          <a:p>
            <a:r>
              <a:t>- https://cursor.com/blog/marketplace</a:t>
            </a:r>
          </a:p>
          <a:p>
            <a:r>
              <a:t>- https://cursor.com/changelog/2-4</a:t>
            </a:r>
          </a:p>
          <a:p>
            <a:r>
              <a:t>- https://opencode.ai/docs/skills</a:t>
            </a:r>
          </a:p>
          <a:p>
            <a:r>
              <a:t>- https://opencode.ai/v2/docs/build/plugins</a:t>
            </a:r>
          </a:p>
          <a:p>
            <a:r>
              <a:t>- https://github.com/google-gemini/gemini-cli/blob/main/docs/extensions/index.md</a:t>
            </a:r>
          </a:p>
          <a:p>
            <a:r>
              <a:t>- https://github.com/google-gemini/gemini-cli/blob/main/docs/extensions/reference.md</a:t>
            </a:r>
          </a:p>
          <a:p>
            <a:r>
              <a:t>- https://docs.devin.ai/product-guides/skills</a:t>
            </a:r>
          </a:p>
          <a:p>
            <a:r>
              <a:t>- https://codelabs.developers.google.com/getting-started-with-antigravity-skills</a:t>
            </a:r>
          </a:p>
          <a:p>
            <a:r>
              <a:t>- https://docs.github.com/en/copilot/concepts/agents/about-agent-skills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demystify the packaging. The value comes from the relationship between guidance, assets, validators, and examples—not from any one instruction file.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/Users/rameshyarlagadda/.codex/plugins/cache/personal/horizon-bank-design/1.0.0+codex.20260727155802/.codex-plugin/plugin.json</a:t>
            </a:r>
          </a:p>
          <a:p>
            <a:r>
              <a:t>- /Users/rameshyarlagadda/.codex/plugins/cache/personal/horizon-bank-design/1.0.0+codex.20260727155802/skills/build-horizon-bank-ui/references</a:t>
            </a:r>
          </a:p>
          <a:p>
            <a:r>
              <a:t>- /Users/rameshyarlagadda/.codex/plugins/cache/personal/horizon-bank-design/1.0.0+codex.20260727155802/skills/build-horizon-bank-ui/assets</a:t>
            </a:r>
          </a:p>
          <a:p>
            <a:r>
              <a:t>- /Users/rameshyarlagadda/.codex/plugins/cache/personal/horizon-bank-design/1.0.0+codex.20260727155802/skills/build-horizon-bank-ui/scripts/audit_horizon_ui.py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concrete Horizon Bank iteration examples to make exhaustive review tangible. These were not abstract concerns; they were discovered by visual inspection and asset-level review.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/Users/rameshyarlagadda/.codex/plugins/cache/personal/horizon-bank-design/1.0.0+codex.20260727155802/skills/build-horizon-bank-ui/assets/starter/horizon-starter-preview.html</a:t>
            </a:r>
          </a:p>
          <a:p>
            <a:r>
              <a:t>- /Users/rameshyarlagadda/.codex/plugins/cache/personal/horizon-bank-design/1.0.0+codex.20260727155802/skills/build-horizon-bank-ui/references/asset-catalog.md</a:t>
            </a:r>
          </a:p>
          <a:p>
            <a:r>
              <a:t>- /Users/rameshyarlagadda/.codex/plugins/cache/personal/horizon-bank-design/1.0.0+codex.20260727155802/skills/audit-horizon-bank-ui/scripts/audit_horizon_ui.py</a:t>
            </a:r>
          </a:p>
          <a:p>
            <a:r>
              <a:t>- /Users/rameshyarlagadda/.codex/plugins/cache/personal/horizon-bank-design/1.0.0+codex.20260727155802/skills/build-horizon-bank-ui/assets/icons/icon-alert-rgb-f1.svg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highest-leverage agentic workflows provide the agent a deterministic loop: create, test, inspect, fix. Keep human judgment for the things that cannot be reduced to a stable check.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/Users/rameshyarlagadda/.codex/plugins/cache/personal/horizon-bank-design/1.0.0+codex.20260727155802/skills/build-horizon-bank-ui/scripts/audit_horizon_ui.py</a:t>
            </a:r>
          </a:p>
          <a:p>
            <a:r>
              <a:t>- /Users/rameshyarlagadda/.codex/plugins/cache/personal/horizon-bank-design/1.0.0+codex.20260727155802/skills/audit-horizon-bank-ui/references/review-checklist.md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ells Fargo" descr="Wells Fargo">
            <a:extLst>
              <a:ext uri="{FF2B5EF4-FFF2-40B4-BE49-F238E27FC236}">
                <a16:creationId xmlns:a16="http://schemas.microsoft.com/office/drawing/2014/main" id="{967B39BB-CE83-594E-A5D5-2233EAE08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57200"/>
            <a:ext cx="1033271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971800"/>
            <a:ext cx="8321040" cy="1554459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three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4709160"/>
            <a:ext cx="1719072" cy="0"/>
          </a:xfrm>
          <a:prstGeom prst="line">
            <a:avLst/>
          </a:prstGeom>
          <a:ln w="2540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937759"/>
            <a:ext cx="5943600" cy="91805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/>
            </a:pPr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ells Fargo" descr="Wells Fargo">
            <a:extLst>
              <a:ext uri="{FF2B5EF4-FFF2-40B4-BE49-F238E27FC236}">
                <a16:creationId xmlns:a16="http://schemas.microsoft.com/office/drawing/2014/main" id="{967B39BB-CE83-594E-A5D5-2233EAE080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57200"/>
            <a:ext cx="1033271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971800"/>
            <a:ext cx="5943600" cy="1554459"/>
          </a:xfrm>
        </p:spPr>
        <p:txBody>
          <a:bodyPr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three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4709160"/>
            <a:ext cx="1719072" cy="0"/>
          </a:xfrm>
          <a:prstGeom prst="line">
            <a:avLst/>
          </a:prstGeom>
          <a:ln w="2540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9" y="4937759"/>
            <a:ext cx="5943599" cy="91805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4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4" name="Content Placeholder 5" descr="Upload or paste an image here">
            <a:extLst>
              <a:ext uri="{FF2B5EF4-FFF2-40B4-BE49-F238E27FC236}">
                <a16:creationId xmlns:a16="http://schemas.microsoft.com/office/drawing/2014/main" id="{44319C45-F188-616B-C264-D659AF2DA9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42760" y="2189244"/>
            <a:ext cx="4892040" cy="3520440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323492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828800"/>
            <a:ext cx="5410200" cy="4340224"/>
          </a:xfrm>
        </p:spPr>
        <p:txBody>
          <a:bodyPr numCol="1"/>
          <a:lstStyle>
            <a:lvl1pPr marL="228600" indent="-228600">
              <a:buFont typeface="Wells Fargo Sans" panose="020B0503020203020204" pitchFamily="34" charset="0"/>
              <a:buChar char="•"/>
              <a:tabLst>
                <a:tab pos="5365750" algn="r"/>
              </a:tabLst>
              <a:defRPr/>
            </a:lvl1pPr>
            <a:lvl2pPr marL="457200" indent="-228600">
              <a:tabLst>
                <a:tab pos="5365750" algn="r"/>
              </a:tabLst>
              <a:defRPr/>
            </a:lvl2pPr>
            <a:lvl3pPr marL="685800" indent="-228600">
              <a:tabLst>
                <a:tab pos="5365750" algn="r"/>
              </a:tabLst>
              <a:defRPr/>
            </a:lvl3pPr>
            <a:lvl4pPr marL="914400" indent="-228600">
              <a:tabLst>
                <a:tab pos="5365750" algn="r"/>
              </a:tabLst>
              <a:defRPr/>
            </a:lvl4pPr>
            <a:lvl5pPr marL="1143000" indent="-228600">
              <a:tabLst>
                <a:tab pos="5365750" algn="r"/>
              </a:tabLst>
              <a:defRPr/>
            </a:lvl5pPr>
            <a:lvl6pPr marL="1371600" indent="-228600">
              <a:tabLst>
                <a:tab pos="5365750" algn="r"/>
              </a:tabLst>
              <a:defRPr/>
            </a:lvl6pPr>
            <a:lvl7pPr marL="1600200" indent="-228600">
              <a:tabLst>
                <a:tab pos="5365750" algn="r"/>
              </a:tabLst>
              <a:defRPr/>
            </a:lvl7pPr>
            <a:lvl8pPr marL="1828800" indent="-228600">
              <a:tabLst>
                <a:tab pos="5365750" algn="r"/>
              </a:tabLst>
              <a:defRPr/>
            </a:lvl8pPr>
            <a:lvl9pPr marL="2057400" indent="-228600">
              <a:tabLst>
                <a:tab pos="5365750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4572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9" name="Line">
            <a:extLst>
              <a:ext uri="{FF2B5EF4-FFF2-40B4-BE49-F238E27FC236}">
                <a16:creationId xmlns:a16="http://schemas.microsoft.com/office/drawing/2014/main" id="{827E2BA7-0F08-6A47-9026-1A567427BC27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6324600" y="1600200"/>
            <a:ext cx="5410200" cy="0"/>
          </a:xfrm>
          <a:prstGeom prst="line">
            <a:avLst/>
          </a:prstGeom>
          <a:ln w="19050" cap="flat">
            <a:solidFill>
              <a:srgbClr val="FFD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2"/>
            <a:ext cx="11277600" cy="4340224"/>
          </a:xfrm>
        </p:spPr>
        <p:txBody>
          <a:bodyPr numCol="2"/>
          <a:lstStyle>
            <a:lvl1pPr marL="228600" indent="-228600">
              <a:buFont typeface="Wells Fargo Sans" panose="020B0503020203020204" pitchFamily="34" charset="0"/>
              <a:buChar char="•"/>
              <a:tabLst>
                <a:tab pos="5365750" algn="r"/>
              </a:tabLst>
              <a:defRPr/>
            </a:lvl1pPr>
            <a:lvl2pPr marL="457200" indent="-228600">
              <a:tabLst>
                <a:tab pos="5365750" algn="r"/>
              </a:tabLst>
              <a:defRPr/>
            </a:lvl2pPr>
            <a:lvl3pPr marL="685800" indent="-228600">
              <a:tabLst>
                <a:tab pos="5365750" algn="r"/>
              </a:tabLst>
              <a:defRPr/>
            </a:lvl3pPr>
            <a:lvl4pPr marL="914400" indent="-228600">
              <a:tabLst>
                <a:tab pos="5365750" algn="r"/>
              </a:tabLst>
              <a:defRPr/>
            </a:lvl4pPr>
            <a:lvl5pPr marL="1143000" indent="-228600">
              <a:tabLst>
                <a:tab pos="5365750" algn="r"/>
              </a:tabLst>
              <a:defRPr/>
            </a:lvl5pPr>
            <a:lvl6pPr marL="1371600" indent="-228600">
              <a:tabLst>
                <a:tab pos="5365750" algn="r"/>
              </a:tabLst>
              <a:defRPr/>
            </a:lvl6pPr>
            <a:lvl7pPr marL="1600200" indent="-228600">
              <a:tabLst>
                <a:tab pos="5365750" algn="r"/>
              </a:tabLst>
              <a:defRPr/>
            </a:lvl7pPr>
            <a:lvl8pPr marL="1828800" indent="-228600">
              <a:tabLst>
                <a:tab pos="5365750" algn="r"/>
              </a:tabLst>
              <a:defRPr/>
            </a:lvl8pPr>
            <a:lvl9pPr marL="2057400" indent="-228600">
              <a:tabLst>
                <a:tab pos="5365750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7760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366000" cy="4568825"/>
          </a:xfrm>
        </p:spPr>
        <p:txBody>
          <a:bodyPr>
            <a:noAutofit/>
          </a:bodyPr>
          <a:lstStyle>
            <a:lvl1pPr marL="365760" indent="-365760">
              <a:lnSpc>
                <a:spcPct val="90000"/>
              </a:lnSpc>
              <a:buFont typeface="Wells Fargo Sans Display" panose="020B0503020203020204" pitchFamily="34" charset="0"/>
              <a:buChar char="•"/>
              <a:defRPr sz="3200">
                <a:latin typeface="+mj-lt"/>
              </a:defRPr>
            </a:lvl1pPr>
            <a:lvl2pPr marL="73152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2pPr>
            <a:lvl3pPr marL="109728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3pPr>
            <a:lvl4pPr marL="146304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4pPr>
            <a:lvl5pPr marL="182880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5pPr>
            <a:lvl6pPr marL="219456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6pPr>
            <a:lvl7pPr marL="256032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7pPr>
            <a:lvl8pPr marL="292608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8pPr>
            <a:lvl9pPr marL="3291840" indent="-365760">
              <a:lnSpc>
                <a:spcPct val="90000"/>
              </a:lnSpc>
              <a:buFont typeface="Wells Fargo Sans Display" panose="020B0503020203020204" pitchFamily="34" charset="0"/>
              <a:buChar char="–"/>
              <a:defRPr sz="32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41324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600200"/>
            <a:ext cx="541324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626" y="1600200"/>
            <a:ext cx="3454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77224" y="1600200"/>
            <a:ext cx="345757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626" y="1600200"/>
            <a:ext cx="736917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366001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7224" y="1600200"/>
            <a:ext cx="3457575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57200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367213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277225" y="16002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7200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367213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277225" y="4114800"/>
            <a:ext cx="345440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D7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978441-1A14-8771-F60C-DE5C03993B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DE4F266-744F-102E-2742-0D3DF29EE5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7EF2A7E-ED94-E540-9CF4-B56F980A3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range">
    <p:bg>
      <p:bgPr>
        <a:solidFill>
          <a:srgbClr val="EB6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8C24CB98-80F8-1F3E-E3F5-EE7EE2629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3D3B5F9-3452-038D-CDC5-D5098878847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E969CF6-897C-2A47-AFD1-3CED01FF0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Orange">
    <p:bg>
      <p:bgPr>
        <a:solidFill>
          <a:srgbClr val="FF96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72269C-DB1B-526D-6B61-D0747909E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8F627A7-1615-B033-4364-E3A61EB975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A37D924-28E5-5843-9BA3-6C88EE563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F16111-A43D-7DAD-DEC3-118327EC4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0" cy="914400"/>
          </a:xfrm>
        </p:spPr>
        <p:txBody>
          <a:bodyPr/>
          <a:lstStyle>
            <a:lvl1pPr>
              <a:defRPr sz="4400">
                <a:solidFill>
                  <a:srgbClr val="D71E28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F745C37-0C8A-8CA0-C66C-4112EFEC04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642187"/>
            <a:ext cx="7366000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1200"/>
              </a:spcBef>
              <a:buNone/>
              <a:defRPr sz="1800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Font typeface="Wells Fargo Sans" panose="020B0503020203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4pPr>
            <a:lvl5pPr marL="6858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5pPr>
            <a:lvl6pPr marL="9144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6pPr>
            <a:lvl7pPr marL="11430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7pPr>
            <a:lvl8pPr marL="13716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8pPr>
            <a:lvl9pPr marL="1600200" indent="-228600">
              <a:spcBef>
                <a:spcPts val="300"/>
              </a:spcBef>
              <a:buFont typeface="Wells Fargo Sans" panose="020B0503020203020204" pitchFamily="34" charset="0"/>
              <a:buChar char="–"/>
              <a:defRPr sz="1800">
                <a:solidFill>
                  <a:schemeClr val="tx1"/>
                </a:solidFill>
              </a:defRPr>
            </a:lvl9pPr>
          </a:lstStyle>
          <a:p>
            <a:pPr lvl="1"/>
            <a:r>
              <a:rPr lang="en-US" dirty="0"/>
              <a:t>Additional information, if needed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6A6D6C7-DEED-604E-9F87-29E1838E5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7366001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1" y="1600200"/>
            <a:ext cx="7366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32868F16-0382-729B-551B-B09687D1AA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77225" y="-6350"/>
            <a:ext cx="3914775" cy="6864350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1600200"/>
            <a:ext cx="9550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8" descr="Upload or paste an image here">
            <a:extLst>
              <a:ext uri="{FF2B5EF4-FFF2-40B4-BE49-F238E27FC236}">
                <a16:creationId xmlns:a16="http://schemas.microsoft.com/office/drawing/2014/main" id="{158890DA-EE94-49A2-698E-E2392FAF6E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12192000" cy="4754562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1600200"/>
            <a:ext cx="73660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37B4CCE4-B917-8A72-E0D9-21CEB2696C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2103120"/>
            <a:ext cx="8277225" cy="4754562"/>
          </a:xfrm>
          <a:solidFill>
            <a:srgbClr val="F4F0E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7225" y="1600200"/>
            <a:ext cx="3457575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None/>
              <a:defRPr sz="1200"/>
            </a:lvl2pPr>
            <a:lvl3pPr marL="0" indent="0">
              <a:spcBef>
                <a:spcPts val="0"/>
              </a:spcBef>
              <a:buNone/>
              <a:defRPr sz="1200"/>
            </a:lvl3pPr>
            <a:lvl4pPr marL="0" indent="0">
              <a:spcBef>
                <a:spcPts val="0"/>
              </a:spcBef>
              <a:buNone/>
              <a:defRPr sz="1200"/>
            </a:lvl4pPr>
            <a:lvl5pPr marL="0" indent="0">
              <a:spcBef>
                <a:spcPts val="0"/>
              </a:spcBef>
              <a:buNone/>
              <a:defRPr sz="1200"/>
            </a:lvl5pPr>
            <a:lvl6pPr marL="0" indent="0">
              <a:spcBef>
                <a:spcPts val="0"/>
              </a:spcBef>
              <a:buNone/>
              <a:defRPr sz="1200"/>
            </a:lvl6pPr>
            <a:lvl7pPr marL="0" indent="0">
              <a:spcBef>
                <a:spcPts val="0"/>
              </a:spcBef>
              <a:buNone/>
              <a:defRPr sz="1200"/>
            </a:lvl7pPr>
            <a:lvl8pPr marL="0" indent="0">
              <a:spcBef>
                <a:spcPts val="0"/>
              </a:spcBef>
              <a:buNone/>
              <a:defRPr sz="1200"/>
            </a:lvl8pPr>
            <a:lvl9pPr marL="0" indent="0">
              <a:spcBef>
                <a:spcPts val="0"/>
              </a:spcBef>
              <a:buNone/>
              <a:defRPr sz="12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2ED1E8-8B2E-2571-7E17-FA9BBA5BE4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77225" y="2103120"/>
            <a:ext cx="3914775" cy="4754562"/>
          </a:xfrm>
          <a:solidFill>
            <a:srgbClr val="B5ADA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6901BF-4BF3-611E-94F0-1833F2534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F146-9394-B6BF-3269-7ED198AB1D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13723"/>
            <a:ext cx="11277600" cy="1600199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z="3200" dirty="0"/>
              <a:t>Thank you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341845"/>
            <a:ext cx="345440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  <a:lvl2pPr marL="0" indent="0">
              <a:spcBef>
                <a:spcPts val="0"/>
              </a:spcBef>
              <a:buFontTx/>
              <a:buNone/>
              <a:defRPr sz="1400"/>
            </a:lvl2pPr>
            <a:lvl3pPr marL="0" indent="0">
              <a:spcBef>
                <a:spcPts val="0"/>
              </a:spcBef>
              <a:buFontTx/>
              <a:buNone/>
              <a:defRPr sz="1400"/>
            </a:lvl3pPr>
            <a:lvl4pPr marL="0" indent="0">
              <a:spcBef>
                <a:spcPts val="0"/>
              </a:spcBef>
              <a:buFontTx/>
              <a:buNone/>
              <a:defRPr sz="1400"/>
            </a:lvl4pPr>
            <a:lvl5pPr marL="0" indent="0">
              <a:spcBef>
                <a:spcPts val="0"/>
              </a:spcBef>
              <a:buFontTx/>
              <a:buNone/>
              <a:defRPr sz="1400"/>
            </a:lvl5pPr>
            <a:lvl6pPr marL="0" indent="0">
              <a:spcBef>
                <a:spcPts val="0"/>
              </a:spcBef>
              <a:buFontTx/>
              <a:buNone/>
              <a:defRPr sz="1400"/>
            </a:lvl6pPr>
            <a:lvl7pPr marL="0" indent="0">
              <a:spcBef>
                <a:spcPts val="0"/>
              </a:spcBef>
              <a:buFontTx/>
              <a:buNone/>
              <a:defRPr sz="1400"/>
            </a:lvl7pPr>
            <a:lvl8pPr marL="0" indent="0">
              <a:spcBef>
                <a:spcPts val="0"/>
              </a:spcBef>
              <a:buFontTx/>
              <a:buNone/>
              <a:defRPr sz="1400"/>
            </a:lvl8pPr>
            <a:lvl9pPr marL="0" indent="0">
              <a:spcBef>
                <a:spcPts val="0"/>
              </a:spcBef>
              <a:buFontTx/>
              <a:buNone/>
              <a:defRPr sz="14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38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4552" cy="4572000"/>
          </a:xfrm>
          <a:prstGeom prst="rect">
            <a:avLst/>
          </a:prstGeom>
        </p:spPr>
        <p:txBody>
          <a:bodyPr vert="horz" lIns="0" tIns="0" rIns="0" bIns="0" spcCol="4572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400800"/>
            <a:ext cx="45720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75" r:id="rId6"/>
    <p:sldLayoutId id="2147483682" r:id="rId7"/>
    <p:sldLayoutId id="2147483683" r:id="rId8"/>
    <p:sldLayoutId id="2147483669" r:id="rId9"/>
    <p:sldLayoutId id="2147483684" r:id="rId10"/>
    <p:sldLayoutId id="2147483685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92" r:id="rId19"/>
    <p:sldLayoutId id="2147483693" r:id="rId20"/>
    <p:sldLayoutId id="2147483671" r:id="rId21"/>
    <p:sldLayoutId id="2147483694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A8E9-03C1-FF5B-0C33-DCD9F02A9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564896"/>
            <a:ext cx="8375301" cy="69281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/>
              <a:t>Building Skills &amp; Plugins</a:t>
            </a:r>
            <a:br>
              <a:rPr lang="en-US" dirty="0"/>
            </a:br>
            <a:r>
              <a:rPr lang="en-US" sz="2400" dirty="0"/>
              <a:t>Learnings from Horizon Bank Plugin Prototypes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2B92F-43DE-10AE-D5DB-45E2D14D5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870382"/>
            <a:ext cx="5943599" cy="918055"/>
          </a:xfrm>
        </p:spPr>
        <p:txBody>
          <a:bodyPr/>
          <a:lstStyle/>
          <a:p>
            <a:r>
              <a:rPr lang="en-US" sz="1800" dirty="0">
                <a:latin typeface="Wells Fargo Sans" panose="020B0503020203020204" pitchFamily="34" charset="0"/>
              </a:rPr>
              <a:t>Ramesh Yarlagadda</a:t>
            </a:r>
          </a:p>
          <a:p>
            <a:r>
              <a:rPr lang="en-US" sz="2000" dirty="0">
                <a:latin typeface="Wells Fargo Sans" panose="020B0503020203020204" pitchFamily="34" charset="0"/>
              </a:rPr>
              <a:t>July 2026</a:t>
            </a:r>
            <a:br>
              <a:rPr lang="en-US" dirty="0">
                <a:latin typeface="Wells Fargo Sans" panose="020B0503020203020204" pitchFamily="34" charset="0"/>
              </a:rPr>
            </a:br>
            <a:endParaRPr lang="en-US" dirty="0">
              <a:latin typeface="Wells Fargo Sans" panose="020B0503020203020204" pitchFamily="34" charset="0"/>
            </a:endParaRPr>
          </a:p>
          <a:p>
            <a:endParaRPr lang="en-US" sz="1500" dirty="0">
              <a:latin typeface="Wells Fargo Sans" panose="020B0503020203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0D6032-C697-0CEA-9839-5A0EC7304B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8733" y="5271927"/>
            <a:ext cx="3226068" cy="12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4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F7EDA0-0503-4B1F-B1C3-2ABEB9999D70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A6633-ABDF-45AE-A2F2-D123912980E4}"/>
              </a:ext>
            </a:extLst>
          </p:cNvPr>
          <p:cNvSpPr>
            <a:spLocks noGrp="1"/>
          </p:cNvSpPr>
          <p:nvPr/>
        </p:nvSpPr>
        <p:spPr>
          <a:xfrm>
            <a:off x="685800" y="461962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171717"/>
                </a:solidFill>
                <a:latin typeface="Wells Fargo Sans" panose="020B0503020203020204" pitchFamily="34" charset="0"/>
                <a:ea typeface="Arial"/>
                <a:cs typeface="Arial"/>
              </a:rPr>
              <a:t>The useful artifact</a:t>
            </a:r>
            <a:r>
              <a:rPr lang="en-US" sz="3000" b="1" i="0" dirty="0">
                <a:solidFill>
                  <a:srgbClr val="171717"/>
                </a:solidFill>
                <a:latin typeface="Wells Fargo Sans" panose="020B0503020203020204" pitchFamily="34" charset="0"/>
                <a:ea typeface="Arial"/>
                <a:cs typeface="Arial"/>
              </a:rPr>
              <a:t>s</a:t>
            </a:r>
            <a:r>
              <a:rPr sz="3000" b="1" i="0" dirty="0">
                <a:solidFill>
                  <a:srgbClr val="171717"/>
                </a:solidFill>
                <a:latin typeface="Wells Fargo Sans" panose="020B0503020203020204" pitchFamily="34" charset="0"/>
                <a:ea typeface="Arial"/>
                <a:cs typeface="Arial"/>
              </a:rPr>
              <a:t> came from a deliberate distillation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FA29D-56D9-4D62-AD93-F7B4FFDA2598}"/>
              </a:ext>
            </a:extLst>
          </p:cNvPr>
          <p:cNvSpPr>
            <a:spLocks noGrp="1"/>
          </p:cNvSpPr>
          <p:nvPr/>
        </p:nvSpPr>
        <p:spPr>
          <a:xfrm>
            <a:off x="742950" y="1107281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AC39E1-109C-4872-BFD0-51B8B2D09C2D}"/>
              </a:ext>
            </a:extLst>
          </p:cNvPr>
          <p:cNvSpPr>
            <a:spLocks noGrp="1"/>
          </p:cNvSpPr>
          <p:nvPr/>
        </p:nvSpPr>
        <p:spPr>
          <a:xfrm>
            <a:off x="685800" y="1807369"/>
            <a:ext cx="3048000" cy="3333750"/>
          </a:xfrm>
          <a:prstGeom prst="rect">
            <a:avLst/>
          </a:prstGeom>
          <a:solidFill>
            <a:srgbClr val="B01C2E"/>
          </a:solidFill>
          <a:ln w="0">
            <a:solidFill>
              <a:srgbClr val="B01C2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417F8-259F-4977-B616-5BF78AE594AE}"/>
              </a:ext>
            </a:extLst>
          </p:cNvPr>
          <p:cNvSpPr>
            <a:spLocks noGrp="1"/>
          </p:cNvSpPr>
          <p:nvPr/>
        </p:nvSpPr>
        <p:spPr>
          <a:xfrm>
            <a:off x="933450" y="2045494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BA8D7-60EB-48B9-AC41-AC946B7E489B}"/>
              </a:ext>
            </a:extLst>
          </p:cNvPr>
          <p:cNvSpPr>
            <a:spLocks noGrp="1"/>
          </p:cNvSpPr>
          <p:nvPr/>
        </p:nvSpPr>
        <p:spPr>
          <a:xfrm>
            <a:off x="933450" y="2788444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the source practice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F0CF2-E0E4-46F8-9EEF-CAA1448BFD98}"/>
              </a:ext>
            </a:extLst>
          </p:cNvPr>
          <p:cNvSpPr>
            <a:spLocks noGrp="1"/>
          </p:cNvSpPr>
          <p:nvPr/>
        </p:nvSpPr>
        <p:spPr>
          <a:xfrm>
            <a:off x="933450" y="3683794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 the </a:t>
            </a:r>
            <a:r>
              <a:rPr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Wells Fargo </a:t>
            </a:r>
            <a:r>
              <a:rPr lang="en-US"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standards </a:t>
            </a:r>
            <a:r>
              <a:rPr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</a:t>
            </a:r>
            <a:r>
              <a:rPr lang="en-US"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</a:t>
            </a:r>
            <a:r>
              <a:rPr lang="en-US"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</a:t>
            </a:r>
            <a:r>
              <a:rPr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the actual patterns, assets, edge cases, and review expectations.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863C0-85BE-4078-82B7-93DEF07026BE}"/>
              </a:ext>
            </a:extLst>
          </p:cNvPr>
          <p:cNvSpPr>
            <a:spLocks noGrp="1"/>
          </p:cNvSpPr>
          <p:nvPr/>
        </p:nvSpPr>
        <p:spPr>
          <a:xfrm>
            <a:off x="4286250" y="1807369"/>
            <a:ext cx="3048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4FC43D-C88A-43E5-9ACD-77B9AC3380F9}"/>
              </a:ext>
            </a:extLst>
          </p:cNvPr>
          <p:cNvSpPr>
            <a:spLocks noGrp="1"/>
          </p:cNvSpPr>
          <p:nvPr/>
        </p:nvSpPr>
        <p:spPr>
          <a:xfrm>
            <a:off x="4533900" y="2045494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07A35D-BBF9-4D71-AB79-8C95AA693C70}"/>
              </a:ext>
            </a:extLst>
          </p:cNvPr>
          <p:cNvSpPr>
            <a:spLocks noGrp="1"/>
          </p:cNvSpPr>
          <p:nvPr/>
        </p:nvSpPr>
        <p:spPr>
          <a:xfrm>
            <a:off x="4533900" y="2788444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Distill the transferable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E49B80-2FEE-45FD-8489-5442BDA99ABD}"/>
              </a:ext>
            </a:extLst>
          </p:cNvPr>
          <p:cNvSpPr>
            <a:spLocks noGrp="1"/>
          </p:cNvSpPr>
          <p:nvPr/>
        </p:nvSpPr>
        <p:spPr>
          <a:xfrm>
            <a:off x="4533900" y="3683794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09"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1275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Establish the</a:t>
            </a:r>
            <a:r>
              <a:rPr sz="1275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direct brand identity and the design logic: typography, color behavior, component guidance, content rules, and validation.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AA63BD-2931-49CF-B93E-049955F82459}"/>
              </a:ext>
            </a:extLst>
          </p:cNvPr>
          <p:cNvSpPr>
            <a:spLocks noGrp="1"/>
          </p:cNvSpPr>
          <p:nvPr/>
        </p:nvSpPr>
        <p:spPr>
          <a:xfrm>
            <a:off x="7886700" y="1807369"/>
            <a:ext cx="3048000" cy="3333750"/>
          </a:xfrm>
          <a:prstGeom prst="rect">
            <a:avLst/>
          </a:prstGeom>
          <a:solidFill>
            <a:srgbClr val="4D4F91"/>
          </a:solidFill>
          <a:ln w="0">
            <a:solidFill>
              <a:srgbClr val="4D4F9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EA1195-2378-48A8-825F-FACD322863DC}"/>
              </a:ext>
            </a:extLst>
          </p:cNvPr>
          <p:cNvSpPr>
            <a:spLocks noGrp="1"/>
          </p:cNvSpPr>
          <p:nvPr/>
        </p:nvSpPr>
        <p:spPr>
          <a:xfrm>
            <a:off x="8134350" y="2045494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DC022A-FB48-4153-8398-B8B46BF336D0}"/>
              </a:ext>
            </a:extLst>
          </p:cNvPr>
          <p:cNvSpPr>
            <a:spLocks noGrp="1"/>
          </p:cNvSpPr>
          <p:nvPr/>
        </p:nvSpPr>
        <p:spPr>
          <a:xfrm>
            <a:off x="8134350" y="2788444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with agents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3BA076-36B2-4CFE-A079-B8C50747F8F9}"/>
              </a:ext>
            </a:extLst>
          </p:cNvPr>
          <p:cNvSpPr>
            <a:spLocks noGrp="1"/>
          </p:cNvSpPr>
          <p:nvPr/>
        </p:nvSpPr>
        <p:spPr>
          <a:xfrm>
            <a:off x="8134350" y="3683794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32"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Ask multiple agents to build, audit, render, and inspect. Feed failures back into the skill until the guidance survives varied scenarios.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D8C6C2-BC9B-4893-9A06-14F661A5F783}"/>
              </a:ext>
            </a:extLst>
          </p:cNvPr>
          <p:cNvSpPr>
            <a:spLocks noGrp="1"/>
          </p:cNvSpPr>
          <p:nvPr/>
        </p:nvSpPr>
        <p:spPr>
          <a:xfrm>
            <a:off x="3790950" y="3283744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E1827A-23DD-4A70-A80E-C957A7CFA873}"/>
              </a:ext>
            </a:extLst>
          </p:cNvPr>
          <p:cNvSpPr>
            <a:spLocks noGrp="1"/>
          </p:cNvSpPr>
          <p:nvPr/>
        </p:nvSpPr>
        <p:spPr>
          <a:xfrm>
            <a:off x="7391400" y="3283744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E0525F-A493-426E-B6A6-B622AA4619B7}"/>
              </a:ext>
            </a:extLst>
          </p:cNvPr>
          <p:cNvSpPr>
            <a:spLocks noGrp="1"/>
          </p:cNvSpPr>
          <p:nvPr/>
        </p:nvSpPr>
        <p:spPr>
          <a:xfrm>
            <a:off x="685800" y="5426869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Observe faithfully  →  abstract intentionally  →  test repeatedly</a:t>
            </a:r>
          </a:p>
        </p:txBody>
      </p:sp>
    </p:spTree>
    <p:extLst>
      <p:ext uri="{BB962C8B-B14F-4D97-AF65-F5344CB8AC3E}">
        <p14:creationId xmlns:p14="http://schemas.microsoft.com/office/powerpoint/2010/main" val="206608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60CFC3-AC9B-4F81-BCF6-CAF5EC3EE7E2}"/>
              </a:ext>
            </a:extLst>
          </p:cNvPr>
          <p:cNvSpPr>
            <a:spLocks noGrp="1"/>
          </p:cNvSpPr>
          <p:nvPr/>
        </p:nvSpPr>
        <p:spPr>
          <a:xfrm>
            <a:off x="562708" y="361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skill needs an owner who can recognize the right answer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7A9C2-A7E8-419F-882D-379FA1EE527A}"/>
              </a:ext>
            </a:extLst>
          </p:cNvPr>
          <p:cNvSpPr>
            <a:spLocks noGrp="1"/>
          </p:cNvSpPr>
          <p:nvPr/>
        </p:nvSpPr>
        <p:spPr>
          <a:xfrm>
            <a:off x="562708" y="1162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B1C90D-F36C-4EA9-86E3-BBF5CAD1A974}"/>
              </a:ext>
            </a:extLst>
          </p:cNvPr>
          <p:cNvSpPr>
            <a:spLocks noGrp="1"/>
          </p:cNvSpPr>
          <p:nvPr/>
        </p:nvSpPr>
        <p:spPr>
          <a:xfrm>
            <a:off x="4639408" y="2171700"/>
            <a:ext cx="2667000" cy="26670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CF3FD-9038-449B-BE4B-3772682AB32D}"/>
              </a:ext>
            </a:extLst>
          </p:cNvPr>
          <p:cNvSpPr>
            <a:spLocks noGrp="1"/>
          </p:cNvSpPr>
          <p:nvPr/>
        </p:nvSpPr>
        <p:spPr>
          <a:xfrm>
            <a:off x="5020408" y="2809875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59" lnSpcReduction="10000"/>
          </a:bodyPr>
          <a:lstStyle/>
          <a:p>
            <a:pPr algn="ctr">
              <a:lnSpc>
                <a:spcPct val="100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88849-0179-41DB-AE54-C1DE63CDFDCE}"/>
              </a:ext>
            </a:extLst>
          </p:cNvPr>
          <p:cNvSpPr>
            <a:spLocks noGrp="1"/>
          </p:cNvSpPr>
          <p:nvPr/>
        </p:nvSpPr>
        <p:spPr>
          <a:xfrm>
            <a:off x="5096608" y="3505200"/>
            <a:ext cx="1752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owns the</a:t>
            </a:r>
          </a:p>
          <a:p>
            <a:pPr algn="ctr">
              <a:lnSpc>
                <a:spcPct val="100000"/>
              </a:lnSpc>
              <a:buNone/>
              <a:defRPr sz="15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quality bar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43E6C-87B1-4D37-9031-7430C01E313C}"/>
              </a:ext>
            </a:extLst>
          </p:cNvPr>
          <p:cNvSpPr>
            <a:spLocks noGrp="1"/>
          </p:cNvSpPr>
          <p:nvPr/>
        </p:nvSpPr>
        <p:spPr>
          <a:xfrm>
            <a:off x="562708" y="2118946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D5B374-2358-40D2-9247-B45CB2B7C689}"/>
              </a:ext>
            </a:extLst>
          </p:cNvPr>
          <p:cNvSpPr>
            <a:spLocks noGrp="1"/>
          </p:cNvSpPr>
          <p:nvPr/>
        </p:nvSpPr>
        <p:spPr>
          <a:xfrm>
            <a:off x="1153258" y="2118946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Are you truly the subject-matter expert?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CCD94-D719-4D40-93D0-006CF263A9B3}"/>
              </a:ext>
            </a:extLst>
          </p:cNvPr>
          <p:cNvSpPr>
            <a:spLocks noGrp="1"/>
          </p:cNvSpPr>
          <p:nvPr/>
        </p:nvSpPr>
        <p:spPr>
          <a:xfrm>
            <a:off x="1153258" y="3014296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0ADFD-446F-47A3-9000-6D3EB0D0C207}"/>
              </a:ext>
            </a:extLst>
          </p:cNvPr>
          <p:cNvSpPr>
            <a:spLocks noGrp="1"/>
          </p:cNvSpPr>
          <p:nvPr/>
        </p:nvSpPr>
        <p:spPr>
          <a:xfrm>
            <a:off x="562708" y="4271596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41F9D8-C919-43D8-A8D0-4984660AA819}"/>
              </a:ext>
            </a:extLst>
          </p:cNvPr>
          <p:cNvSpPr>
            <a:spLocks noGrp="1"/>
          </p:cNvSpPr>
          <p:nvPr/>
        </p:nvSpPr>
        <p:spPr>
          <a:xfrm>
            <a:off x="1153258" y="4271596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57"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Can you distinguish acceptable from excellent?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47359F-1160-40AD-947D-BB1E3AC07186}"/>
              </a:ext>
            </a:extLst>
          </p:cNvPr>
          <p:cNvSpPr>
            <a:spLocks noGrp="1"/>
          </p:cNvSpPr>
          <p:nvPr/>
        </p:nvSpPr>
        <p:spPr>
          <a:xfrm>
            <a:off x="1153258" y="5166946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C0725-90AF-430B-A282-BCAA35509A30}"/>
              </a:ext>
            </a:extLst>
          </p:cNvPr>
          <p:cNvSpPr>
            <a:spLocks noGrp="1"/>
          </p:cNvSpPr>
          <p:nvPr/>
        </p:nvSpPr>
        <p:spPr>
          <a:xfrm>
            <a:off x="8144608" y="2118946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365189-B2F7-45AA-BAE4-A47F5640B7F1}"/>
              </a:ext>
            </a:extLst>
          </p:cNvPr>
          <p:cNvSpPr>
            <a:spLocks noGrp="1"/>
          </p:cNvSpPr>
          <p:nvPr/>
        </p:nvSpPr>
        <p:spPr>
          <a:xfrm>
            <a:off x="8735158" y="2118946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 you have final signoff and ownership?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E18385-F16E-416E-A234-C099CC72C02E}"/>
              </a:ext>
            </a:extLst>
          </p:cNvPr>
          <p:cNvSpPr>
            <a:spLocks noGrp="1"/>
          </p:cNvSpPr>
          <p:nvPr/>
        </p:nvSpPr>
        <p:spPr>
          <a:xfrm>
            <a:off x="8735158" y="3014296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813681-2B4D-4E44-906C-BFCE7B0EA9F8}"/>
              </a:ext>
            </a:extLst>
          </p:cNvPr>
          <p:cNvSpPr>
            <a:spLocks noGrp="1"/>
          </p:cNvSpPr>
          <p:nvPr/>
        </p:nvSpPr>
        <p:spPr>
          <a:xfrm>
            <a:off x="8144608" y="4271596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6C4C1-8650-4B66-A457-99F464B8767B}"/>
              </a:ext>
            </a:extLst>
          </p:cNvPr>
          <p:cNvSpPr>
            <a:spLocks noGrp="1"/>
          </p:cNvSpPr>
          <p:nvPr/>
        </p:nvSpPr>
        <p:spPr>
          <a:xfrm>
            <a:off x="8735158" y="4271596"/>
            <a:ext cx="2983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Can you resolve edge cases and conflicting guidance?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D78D46-1D51-412E-9A78-B8821F157F57}"/>
              </a:ext>
            </a:extLst>
          </p:cNvPr>
          <p:cNvSpPr>
            <a:spLocks noGrp="1"/>
          </p:cNvSpPr>
          <p:nvPr/>
        </p:nvSpPr>
        <p:spPr>
          <a:xfrm>
            <a:off x="8735158" y="5166946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4D89FA-ED22-4927-9A49-464BF66AF31E}"/>
              </a:ext>
            </a:extLst>
          </p:cNvPr>
          <p:cNvSpPr>
            <a:spLocks noGrp="1"/>
          </p:cNvSpPr>
          <p:nvPr/>
        </p:nvSpPr>
        <p:spPr>
          <a:xfrm>
            <a:off x="2353408" y="5738446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If the answer is “not yet,” co-author with the person who can sign off.</a:t>
            </a:r>
          </a:p>
        </p:txBody>
      </p:sp>
    </p:spTree>
    <p:extLst>
      <p:ext uri="{BB962C8B-B14F-4D97-AF65-F5344CB8AC3E}">
        <p14:creationId xmlns:p14="http://schemas.microsoft.com/office/powerpoint/2010/main" val="60551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8F6C91-1D46-4ACA-AD8C-9D692DFF58CE}"/>
              </a:ext>
            </a:extLst>
          </p:cNvPr>
          <p:cNvSpPr>
            <a:spLocks noGrp="1"/>
          </p:cNvSpPr>
          <p:nvPr/>
        </p:nvSpPr>
        <p:spPr>
          <a:xfrm>
            <a:off x="438150" y="361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96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Skills are broadly portable; plugin bundles are still platform-specific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0C2F1B-4872-4C85-936E-A7F7F9AE50CF}"/>
              </a:ext>
            </a:extLst>
          </p:cNvPr>
          <p:cNvSpPr>
            <a:spLocks noGrp="1"/>
          </p:cNvSpPr>
          <p:nvPr/>
        </p:nvSpPr>
        <p:spPr>
          <a:xfrm>
            <a:off x="438150" y="1162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CC2D1-37E7-4FE9-BC5A-D111C8F77B8F}"/>
              </a:ext>
            </a:extLst>
          </p:cNvPr>
          <p:cNvSpPr>
            <a:spLocks noGrp="1"/>
          </p:cNvSpPr>
          <p:nvPr/>
        </p:nvSpPr>
        <p:spPr>
          <a:xfrm>
            <a:off x="553915" y="1710837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5F7FA3-3328-4730-A5C4-AABE38DAABE2}"/>
              </a:ext>
            </a:extLst>
          </p:cNvPr>
          <p:cNvSpPr>
            <a:spLocks noGrp="1"/>
          </p:cNvSpPr>
          <p:nvPr/>
        </p:nvSpPr>
        <p:spPr>
          <a:xfrm>
            <a:off x="3297115" y="1710837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Standalone skills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9D8CD8-0526-4F3D-8ED7-E0FEF65D2E0E}"/>
              </a:ext>
            </a:extLst>
          </p:cNvPr>
          <p:cNvSpPr>
            <a:spLocks noGrp="1"/>
          </p:cNvSpPr>
          <p:nvPr/>
        </p:nvSpPr>
        <p:spPr>
          <a:xfrm>
            <a:off x="5344990" y="1710837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Plugin / extension bundle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0F7B3-EE6E-4CED-918E-2A0CF4D037F2}"/>
              </a:ext>
            </a:extLst>
          </p:cNvPr>
          <p:cNvSpPr>
            <a:spLocks noGrp="1"/>
          </p:cNvSpPr>
          <p:nvPr/>
        </p:nvSpPr>
        <p:spPr>
          <a:xfrm>
            <a:off x="7964365" y="1710837"/>
            <a:ext cx="3409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What is documented today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E217D-EB5D-4A05-A09F-A7CFA3DE3F66}"/>
              </a:ext>
            </a:extLst>
          </p:cNvPr>
          <p:cNvSpPr>
            <a:spLocks noGrp="1"/>
          </p:cNvSpPr>
          <p:nvPr/>
        </p:nvSpPr>
        <p:spPr>
          <a:xfrm>
            <a:off x="553915" y="2044212"/>
            <a:ext cx="10820400" cy="19050"/>
          </a:xfrm>
          <a:prstGeom prst="rect">
            <a:avLst/>
          </a:prstGeom>
          <a:solidFill>
            <a:srgbClr val="171717"/>
          </a:solidFill>
          <a:ln w="0">
            <a:solidFill>
              <a:srgbClr val="17171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790AC-C8B1-4298-A3B6-0E8FC1555DD7}"/>
              </a:ext>
            </a:extLst>
          </p:cNvPr>
          <p:cNvSpPr>
            <a:spLocks noGrp="1"/>
          </p:cNvSpPr>
          <p:nvPr/>
        </p:nvSpPr>
        <p:spPr>
          <a:xfrm>
            <a:off x="553915" y="2158512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6236A-7AC6-46FB-A45F-339AAC8FFADC}"/>
              </a:ext>
            </a:extLst>
          </p:cNvPr>
          <p:cNvSpPr>
            <a:spLocks noGrp="1"/>
          </p:cNvSpPr>
          <p:nvPr/>
        </p:nvSpPr>
        <p:spPr>
          <a:xfrm>
            <a:off x="668215" y="225376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CDF3EF-861D-4C0D-8EB8-480910B7EA53}"/>
              </a:ext>
            </a:extLst>
          </p:cNvPr>
          <p:cNvSpPr>
            <a:spLocks noGrp="1"/>
          </p:cNvSpPr>
          <p:nvPr/>
        </p:nvSpPr>
        <p:spPr>
          <a:xfrm>
            <a:off x="3516190" y="220613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28798-A252-4DEB-9169-EFEC23B4D573}"/>
              </a:ext>
            </a:extLst>
          </p:cNvPr>
          <p:cNvSpPr>
            <a:spLocks noGrp="1"/>
          </p:cNvSpPr>
          <p:nvPr/>
        </p:nvSpPr>
        <p:spPr>
          <a:xfrm>
            <a:off x="3630490" y="227281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65951D0-983E-46A5-8127-B4D0117624BE}"/>
              </a:ext>
            </a:extLst>
          </p:cNvPr>
          <p:cNvSpPr>
            <a:spLocks noGrp="1"/>
          </p:cNvSpPr>
          <p:nvPr/>
        </p:nvSpPr>
        <p:spPr>
          <a:xfrm>
            <a:off x="5602165" y="220613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6ED352-0EB7-4E32-AF62-08E8B6F53EA6}"/>
              </a:ext>
            </a:extLst>
          </p:cNvPr>
          <p:cNvSpPr>
            <a:spLocks noGrp="1"/>
          </p:cNvSpPr>
          <p:nvPr/>
        </p:nvSpPr>
        <p:spPr>
          <a:xfrm>
            <a:off x="5716465" y="227281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5DB166-66D7-482D-A5DE-749009413903}"/>
              </a:ext>
            </a:extLst>
          </p:cNvPr>
          <p:cNvSpPr>
            <a:spLocks noGrp="1"/>
          </p:cNvSpPr>
          <p:nvPr/>
        </p:nvSpPr>
        <p:spPr>
          <a:xfrm>
            <a:off x="7964365" y="222518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1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Plugins package skills, apps, and workflow guidance.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F5F3AC-D8E4-4608-8CD1-575240FCEFEE}"/>
              </a:ext>
            </a:extLst>
          </p:cNvPr>
          <p:cNvSpPr>
            <a:spLocks noGrp="1"/>
          </p:cNvSpPr>
          <p:nvPr/>
        </p:nvSpPr>
        <p:spPr>
          <a:xfrm>
            <a:off x="668215" y="269191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2B1A2D-30B5-486C-AF10-9F270434339E}"/>
              </a:ext>
            </a:extLst>
          </p:cNvPr>
          <p:cNvSpPr>
            <a:spLocks noGrp="1"/>
          </p:cNvSpPr>
          <p:nvPr/>
        </p:nvSpPr>
        <p:spPr>
          <a:xfrm>
            <a:off x="3516190" y="264428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A75BA-AF86-47BF-9293-345DA1EED18D}"/>
              </a:ext>
            </a:extLst>
          </p:cNvPr>
          <p:cNvSpPr>
            <a:spLocks noGrp="1"/>
          </p:cNvSpPr>
          <p:nvPr/>
        </p:nvSpPr>
        <p:spPr>
          <a:xfrm>
            <a:off x="3630490" y="271096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EE4B1F-E837-4752-9E58-7F7BD72AF860}"/>
              </a:ext>
            </a:extLst>
          </p:cNvPr>
          <p:cNvSpPr>
            <a:spLocks noGrp="1"/>
          </p:cNvSpPr>
          <p:nvPr/>
        </p:nvSpPr>
        <p:spPr>
          <a:xfrm>
            <a:off x="5602165" y="264428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6F33C-1B87-4747-A4D7-562193EA70DE}"/>
              </a:ext>
            </a:extLst>
          </p:cNvPr>
          <p:cNvSpPr>
            <a:spLocks noGrp="1"/>
          </p:cNvSpPr>
          <p:nvPr/>
        </p:nvSpPr>
        <p:spPr>
          <a:xfrm>
            <a:off x="5716465" y="271096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742C69-816F-427F-91FB-D6B64AC7462B}"/>
              </a:ext>
            </a:extLst>
          </p:cNvPr>
          <p:cNvSpPr>
            <a:spLocks noGrp="1"/>
          </p:cNvSpPr>
          <p:nvPr/>
        </p:nvSpPr>
        <p:spPr>
          <a:xfrm>
            <a:off x="7964365" y="266333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80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Plugins bundle skills, agents, hooks, MCP and more.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2776F-E19F-4016-A353-450C61017DA0}"/>
              </a:ext>
            </a:extLst>
          </p:cNvPr>
          <p:cNvSpPr>
            <a:spLocks noGrp="1"/>
          </p:cNvSpPr>
          <p:nvPr/>
        </p:nvSpPr>
        <p:spPr>
          <a:xfrm>
            <a:off x="553915" y="3034812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F33418-59A3-430A-837F-323587968898}"/>
              </a:ext>
            </a:extLst>
          </p:cNvPr>
          <p:cNvSpPr>
            <a:spLocks noGrp="1"/>
          </p:cNvSpPr>
          <p:nvPr/>
        </p:nvSpPr>
        <p:spPr>
          <a:xfrm>
            <a:off x="668215" y="313006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446ED08-4AE2-4A02-A92E-650DFF8A0F30}"/>
              </a:ext>
            </a:extLst>
          </p:cNvPr>
          <p:cNvSpPr>
            <a:spLocks noGrp="1"/>
          </p:cNvSpPr>
          <p:nvPr/>
        </p:nvSpPr>
        <p:spPr>
          <a:xfrm>
            <a:off x="3516190" y="308243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E5E5C-A59A-4E6D-8A10-C455C657A5A1}"/>
              </a:ext>
            </a:extLst>
          </p:cNvPr>
          <p:cNvSpPr>
            <a:spLocks noGrp="1"/>
          </p:cNvSpPr>
          <p:nvPr/>
        </p:nvSpPr>
        <p:spPr>
          <a:xfrm>
            <a:off x="3630490" y="314911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9321CF-ED8D-4AEB-B68C-604694247DF7}"/>
              </a:ext>
            </a:extLst>
          </p:cNvPr>
          <p:cNvSpPr>
            <a:spLocks noGrp="1"/>
          </p:cNvSpPr>
          <p:nvPr/>
        </p:nvSpPr>
        <p:spPr>
          <a:xfrm>
            <a:off x="5602165" y="308243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0AEA36-935F-40CF-A1A7-E8E366B7B03D}"/>
              </a:ext>
            </a:extLst>
          </p:cNvPr>
          <p:cNvSpPr>
            <a:spLocks noGrp="1"/>
          </p:cNvSpPr>
          <p:nvPr/>
        </p:nvSpPr>
        <p:spPr>
          <a:xfrm>
            <a:off x="5716465" y="314911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B352B4-4A6B-4706-AEA9-67656A66EA88}"/>
              </a:ext>
            </a:extLst>
          </p:cNvPr>
          <p:cNvSpPr>
            <a:spLocks noGrp="1"/>
          </p:cNvSpPr>
          <p:nvPr/>
        </p:nvSpPr>
        <p:spPr>
          <a:xfrm>
            <a:off x="7964365" y="310148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Marketplace plugins bundle skills, subagents, MCP, hooks and rules.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45B42F-D1DF-4873-9304-E9364278696C}"/>
              </a:ext>
            </a:extLst>
          </p:cNvPr>
          <p:cNvSpPr>
            <a:spLocks noGrp="1"/>
          </p:cNvSpPr>
          <p:nvPr/>
        </p:nvSpPr>
        <p:spPr>
          <a:xfrm>
            <a:off x="668215" y="356821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17C622D-B0BA-4BBC-AA09-212CD5900959}"/>
              </a:ext>
            </a:extLst>
          </p:cNvPr>
          <p:cNvSpPr>
            <a:spLocks noGrp="1"/>
          </p:cNvSpPr>
          <p:nvPr/>
        </p:nvSpPr>
        <p:spPr>
          <a:xfrm>
            <a:off x="3516190" y="352058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C5D2E4-E9F8-4A69-AB4C-0DE479CC2B4D}"/>
              </a:ext>
            </a:extLst>
          </p:cNvPr>
          <p:cNvSpPr>
            <a:spLocks noGrp="1"/>
          </p:cNvSpPr>
          <p:nvPr/>
        </p:nvSpPr>
        <p:spPr>
          <a:xfrm>
            <a:off x="3630490" y="358726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E9AA9BB-9930-4C5E-8FEE-4A6512AC8416}"/>
              </a:ext>
            </a:extLst>
          </p:cNvPr>
          <p:cNvSpPr>
            <a:spLocks noGrp="1"/>
          </p:cNvSpPr>
          <p:nvPr/>
        </p:nvSpPr>
        <p:spPr>
          <a:xfrm>
            <a:off x="5602165" y="352058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6AC920-9FB4-4500-A9D6-7A10ABD615E0}"/>
              </a:ext>
            </a:extLst>
          </p:cNvPr>
          <p:cNvSpPr>
            <a:spLocks noGrp="1"/>
          </p:cNvSpPr>
          <p:nvPr/>
        </p:nvSpPr>
        <p:spPr>
          <a:xfrm>
            <a:off x="5716465" y="358726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95B675-98EF-46F6-A2AC-E0711DD7DA1B}"/>
              </a:ext>
            </a:extLst>
          </p:cNvPr>
          <p:cNvSpPr>
            <a:spLocks noGrp="1"/>
          </p:cNvSpPr>
          <p:nvPr/>
        </p:nvSpPr>
        <p:spPr>
          <a:xfrm>
            <a:off x="7964365" y="353963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 Skills plus a documented plugin API.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B7C314-74BA-41C9-BAED-035BB1EABAED}"/>
              </a:ext>
            </a:extLst>
          </p:cNvPr>
          <p:cNvSpPr>
            <a:spLocks noGrp="1"/>
          </p:cNvSpPr>
          <p:nvPr/>
        </p:nvSpPr>
        <p:spPr>
          <a:xfrm>
            <a:off x="553915" y="3911112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A7F1A8-FE99-4294-A5D9-DAB64C28298A}"/>
              </a:ext>
            </a:extLst>
          </p:cNvPr>
          <p:cNvSpPr>
            <a:spLocks noGrp="1"/>
          </p:cNvSpPr>
          <p:nvPr/>
        </p:nvSpPr>
        <p:spPr>
          <a:xfrm>
            <a:off x="668215" y="400636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 CLI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0CA574F-851B-4F4B-B4D2-CFA5D3DB101F}"/>
              </a:ext>
            </a:extLst>
          </p:cNvPr>
          <p:cNvSpPr>
            <a:spLocks noGrp="1"/>
          </p:cNvSpPr>
          <p:nvPr/>
        </p:nvSpPr>
        <p:spPr>
          <a:xfrm>
            <a:off x="3516190" y="395873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40F6A9-6503-4F3E-BD59-D2181E78D67D}"/>
              </a:ext>
            </a:extLst>
          </p:cNvPr>
          <p:cNvSpPr>
            <a:spLocks noGrp="1"/>
          </p:cNvSpPr>
          <p:nvPr/>
        </p:nvSpPr>
        <p:spPr>
          <a:xfrm>
            <a:off x="3630490" y="402541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7843F73-860C-4E9C-BDD9-984F3D9C4433}"/>
              </a:ext>
            </a:extLst>
          </p:cNvPr>
          <p:cNvSpPr>
            <a:spLocks noGrp="1"/>
          </p:cNvSpPr>
          <p:nvPr/>
        </p:nvSpPr>
        <p:spPr>
          <a:xfrm>
            <a:off x="5602165" y="395873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EEB0C7-59A9-4B29-8100-E3571B5668CF}"/>
              </a:ext>
            </a:extLst>
          </p:cNvPr>
          <p:cNvSpPr>
            <a:spLocks noGrp="1"/>
          </p:cNvSpPr>
          <p:nvPr/>
        </p:nvSpPr>
        <p:spPr>
          <a:xfrm>
            <a:off x="5716465" y="402541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EXTENSIONS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0658AF-417E-4EE2-8980-88B3040234EB}"/>
              </a:ext>
            </a:extLst>
          </p:cNvPr>
          <p:cNvSpPr>
            <a:spLocks noGrp="1"/>
          </p:cNvSpPr>
          <p:nvPr/>
        </p:nvSpPr>
        <p:spPr>
          <a:xfrm>
            <a:off x="7964365" y="397778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Extensions can package skills, MCP, commands, hooks and agents.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780AF5-C022-42EC-9CF2-6757EB57D11E}"/>
              </a:ext>
            </a:extLst>
          </p:cNvPr>
          <p:cNvSpPr>
            <a:spLocks noGrp="1"/>
          </p:cNvSpPr>
          <p:nvPr/>
        </p:nvSpPr>
        <p:spPr>
          <a:xfrm>
            <a:off x="668215" y="444451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Devin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03B79D1-57FC-4568-9BB9-5819D098A59A}"/>
              </a:ext>
            </a:extLst>
          </p:cNvPr>
          <p:cNvSpPr>
            <a:spLocks noGrp="1"/>
          </p:cNvSpPr>
          <p:nvPr/>
        </p:nvSpPr>
        <p:spPr>
          <a:xfrm>
            <a:off x="3516190" y="439688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11A2FD-2739-4643-80BB-C0055A285814}"/>
              </a:ext>
            </a:extLst>
          </p:cNvPr>
          <p:cNvSpPr>
            <a:spLocks noGrp="1"/>
          </p:cNvSpPr>
          <p:nvPr/>
        </p:nvSpPr>
        <p:spPr>
          <a:xfrm>
            <a:off x="3630490" y="446356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EB5E17-BE74-455F-BBC4-3EC8C1E633A7}"/>
              </a:ext>
            </a:extLst>
          </p:cNvPr>
          <p:cNvSpPr>
            <a:spLocks noGrp="1"/>
          </p:cNvSpPr>
          <p:nvPr/>
        </p:nvSpPr>
        <p:spPr>
          <a:xfrm>
            <a:off x="5602165" y="439688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AA96E6-3575-4DD8-AEE7-CEC4760B8910}"/>
              </a:ext>
            </a:extLst>
          </p:cNvPr>
          <p:cNvSpPr>
            <a:spLocks noGrp="1"/>
          </p:cNvSpPr>
          <p:nvPr/>
        </p:nvSpPr>
        <p:spPr>
          <a:xfrm>
            <a:off x="5716465" y="446356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lang="en-US" sz="975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NOT YET</a:t>
            </a:r>
            <a:endParaRPr sz="975" b="1" i="0" dirty="0">
              <a:solidFill>
                <a:srgbClr val="B01C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63C03F-7B14-4C8E-87F6-3BE8F10B7C0A}"/>
              </a:ext>
            </a:extLst>
          </p:cNvPr>
          <p:cNvSpPr>
            <a:spLocks noGrp="1"/>
          </p:cNvSpPr>
          <p:nvPr/>
        </p:nvSpPr>
        <p:spPr>
          <a:xfrm>
            <a:off x="7964365" y="441593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Repository SKILL.md support; no comparable bundle found in reviewed docs.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1B42-D914-4C09-88B9-B9BC040FF006}"/>
              </a:ext>
            </a:extLst>
          </p:cNvPr>
          <p:cNvSpPr>
            <a:spLocks noGrp="1"/>
          </p:cNvSpPr>
          <p:nvPr/>
        </p:nvSpPr>
        <p:spPr>
          <a:xfrm>
            <a:off x="553915" y="4787412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3EA8BB-5ADC-46B1-B889-8C6721729140}"/>
              </a:ext>
            </a:extLst>
          </p:cNvPr>
          <p:cNvSpPr>
            <a:spLocks noGrp="1"/>
          </p:cNvSpPr>
          <p:nvPr/>
        </p:nvSpPr>
        <p:spPr>
          <a:xfrm>
            <a:off x="668215" y="488266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Antigravity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936D555-A248-4DD4-8407-74368E1C161C}"/>
              </a:ext>
            </a:extLst>
          </p:cNvPr>
          <p:cNvSpPr>
            <a:spLocks noGrp="1"/>
          </p:cNvSpPr>
          <p:nvPr/>
        </p:nvSpPr>
        <p:spPr>
          <a:xfrm>
            <a:off x="3516190" y="483503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580846-73D2-4B8E-B97D-9FDC835AF4FE}"/>
              </a:ext>
            </a:extLst>
          </p:cNvPr>
          <p:cNvSpPr>
            <a:spLocks noGrp="1"/>
          </p:cNvSpPr>
          <p:nvPr/>
        </p:nvSpPr>
        <p:spPr>
          <a:xfrm>
            <a:off x="3630490" y="490171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ACC209C-7D47-4B4B-A76D-2E9605B17E75}"/>
              </a:ext>
            </a:extLst>
          </p:cNvPr>
          <p:cNvSpPr>
            <a:spLocks noGrp="1"/>
          </p:cNvSpPr>
          <p:nvPr/>
        </p:nvSpPr>
        <p:spPr>
          <a:xfrm>
            <a:off x="5602165" y="483503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6AA5B35-CCB7-484F-BBD8-3209051D32B5}"/>
              </a:ext>
            </a:extLst>
          </p:cNvPr>
          <p:cNvSpPr>
            <a:spLocks noGrp="1"/>
          </p:cNvSpPr>
          <p:nvPr/>
        </p:nvSpPr>
        <p:spPr>
          <a:xfrm>
            <a:off x="5716465" y="490171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lang="en-US" sz="975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NOT YET</a:t>
            </a:r>
            <a:endParaRPr sz="975" b="1" i="0" dirty="0">
              <a:solidFill>
                <a:srgbClr val="B01C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1806812-A869-4326-8053-C563755E9DD0}"/>
              </a:ext>
            </a:extLst>
          </p:cNvPr>
          <p:cNvSpPr>
            <a:spLocks noGrp="1"/>
          </p:cNvSpPr>
          <p:nvPr/>
        </p:nvSpPr>
        <p:spPr>
          <a:xfrm>
            <a:off x="7964365" y="485408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11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Project/global Agent Skills; no comparable bundle found in reviewed docs.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EEB0D0-402A-4588-B02A-865510F053EB}"/>
              </a:ext>
            </a:extLst>
          </p:cNvPr>
          <p:cNvSpPr>
            <a:spLocks noGrp="1"/>
          </p:cNvSpPr>
          <p:nvPr/>
        </p:nvSpPr>
        <p:spPr>
          <a:xfrm>
            <a:off x="668215" y="5320812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D8ECA96-E962-4FC9-8C94-442DBE64ABEB}"/>
              </a:ext>
            </a:extLst>
          </p:cNvPr>
          <p:cNvSpPr>
            <a:spLocks noGrp="1"/>
          </p:cNvSpPr>
          <p:nvPr/>
        </p:nvSpPr>
        <p:spPr>
          <a:xfrm>
            <a:off x="3516190" y="5273187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16CF29-095D-4407-A0D0-E2F08A034244}"/>
              </a:ext>
            </a:extLst>
          </p:cNvPr>
          <p:cNvSpPr>
            <a:spLocks noGrp="1"/>
          </p:cNvSpPr>
          <p:nvPr/>
        </p:nvSpPr>
        <p:spPr>
          <a:xfrm>
            <a:off x="3630490" y="5339862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B0326BA-1F22-4A4D-A33C-983326E6AAA5}"/>
              </a:ext>
            </a:extLst>
          </p:cNvPr>
          <p:cNvSpPr>
            <a:spLocks noGrp="1"/>
          </p:cNvSpPr>
          <p:nvPr/>
        </p:nvSpPr>
        <p:spPr>
          <a:xfrm>
            <a:off x="5602165" y="5273187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A6EA9F-292A-4F06-94A0-CBA4B82BA213}"/>
              </a:ext>
            </a:extLst>
          </p:cNvPr>
          <p:cNvSpPr>
            <a:spLocks noGrp="1"/>
          </p:cNvSpPr>
          <p:nvPr/>
        </p:nvSpPr>
        <p:spPr>
          <a:xfrm>
            <a:off x="5716465" y="5339862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lang="en-US" sz="975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IN BETA</a:t>
            </a:r>
            <a:endParaRPr sz="975" b="1" i="0" dirty="0">
              <a:solidFill>
                <a:srgbClr val="B01C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57DF8CC-9BBB-492A-81E9-0DCDBEF65EDD}"/>
              </a:ext>
            </a:extLst>
          </p:cNvPr>
          <p:cNvSpPr>
            <a:spLocks noGrp="1"/>
          </p:cNvSpPr>
          <p:nvPr/>
        </p:nvSpPr>
        <p:spPr>
          <a:xfrm>
            <a:off x="7964365" y="5292237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0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Project and personal Agent Skills across Copilot surfaces.</a:t>
            </a:r>
          </a:p>
        </p:txBody>
      </p:sp>
    </p:spTree>
    <p:extLst>
      <p:ext uri="{BB962C8B-B14F-4D97-AF65-F5344CB8AC3E}">
        <p14:creationId xmlns:p14="http://schemas.microsoft.com/office/powerpoint/2010/main" val="132364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FE5067-AE8F-4064-8A77-401253A68B3E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5F52F-32E8-486E-8975-9CF997C8ACFE}"/>
              </a:ext>
            </a:extLst>
          </p:cNvPr>
          <p:cNvSpPr>
            <a:spLocks noGrp="1"/>
          </p:cNvSpPr>
          <p:nvPr/>
        </p:nvSpPr>
        <p:spPr>
          <a:xfrm>
            <a:off x="496765" y="404812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1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</a:t>
            </a: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plugin is a working system</a:t>
            </a:r>
            <a:r>
              <a:rPr lang="en-US"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not a 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11D82-DFEE-4EBE-A875-07351263CDA9}"/>
              </a:ext>
            </a:extLst>
          </p:cNvPr>
          <p:cNvSpPr>
            <a:spLocks noGrp="1"/>
          </p:cNvSpPr>
          <p:nvPr/>
        </p:nvSpPr>
        <p:spPr>
          <a:xfrm>
            <a:off x="1075592" y="3246559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plugin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EFA35-1CA6-4DB0-8931-39B51396BE01}"/>
              </a:ext>
            </a:extLst>
          </p:cNvPr>
          <p:cNvSpPr>
            <a:spLocks noGrp="1"/>
          </p:cNvSpPr>
          <p:nvPr/>
        </p:nvSpPr>
        <p:spPr>
          <a:xfrm>
            <a:off x="1075592" y="3799009"/>
            <a:ext cx="2286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complementary skills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reference guides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 transparent SVG icons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stock photographs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C76AC-F911-4670-8A72-78D546C6C1A3}"/>
              </a:ext>
            </a:extLst>
          </p:cNvPr>
          <p:cNvSpPr>
            <a:spLocks noGrp="1"/>
          </p:cNvSpPr>
          <p:nvPr/>
        </p:nvSpPr>
        <p:spPr>
          <a:xfrm>
            <a:off x="694592" y="1408234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C8A925-608B-44C8-98EB-7FA0A524852A}"/>
              </a:ext>
            </a:extLst>
          </p:cNvPr>
          <p:cNvSpPr>
            <a:spLocks noGrp="1"/>
          </p:cNvSpPr>
          <p:nvPr/>
        </p:nvSpPr>
        <p:spPr>
          <a:xfrm>
            <a:off x="2409092" y="1408234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.codex-plugin/plugin.json — identity, version, installable package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048571-4D8D-47CA-A8D9-444AD1292CCB}"/>
              </a:ext>
            </a:extLst>
          </p:cNvPr>
          <p:cNvSpPr>
            <a:spLocks noGrp="1"/>
          </p:cNvSpPr>
          <p:nvPr/>
        </p:nvSpPr>
        <p:spPr>
          <a:xfrm>
            <a:off x="694592" y="1894009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8FB222-1B99-4B3D-BC18-0E0106805A4F}"/>
              </a:ext>
            </a:extLst>
          </p:cNvPr>
          <p:cNvSpPr>
            <a:spLocks noGrp="1"/>
          </p:cNvSpPr>
          <p:nvPr/>
        </p:nvSpPr>
        <p:spPr>
          <a:xfrm>
            <a:off x="694592" y="2046409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Build skill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4ECDA-0477-4B86-9CFB-E4EBC9CA5EBD}"/>
              </a:ext>
            </a:extLst>
          </p:cNvPr>
          <p:cNvSpPr>
            <a:spLocks noGrp="1"/>
          </p:cNvSpPr>
          <p:nvPr/>
        </p:nvSpPr>
        <p:spPr>
          <a:xfrm>
            <a:off x="2409092" y="2046409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Design and implementation guidance for web and mobile concepts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15F6E-1729-4BAD-B574-8743E606076C}"/>
              </a:ext>
            </a:extLst>
          </p:cNvPr>
          <p:cNvSpPr>
            <a:spLocks noGrp="1"/>
          </p:cNvSpPr>
          <p:nvPr/>
        </p:nvSpPr>
        <p:spPr>
          <a:xfrm>
            <a:off x="694592" y="2532184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A66AE4-036B-410F-94FA-80B30052ECCE}"/>
              </a:ext>
            </a:extLst>
          </p:cNvPr>
          <p:cNvSpPr>
            <a:spLocks noGrp="1"/>
          </p:cNvSpPr>
          <p:nvPr/>
        </p:nvSpPr>
        <p:spPr>
          <a:xfrm>
            <a:off x="694592" y="2684584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Audit skill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02969-6B78-48F4-99D7-8ACFF8AAAC52}"/>
              </a:ext>
            </a:extLst>
          </p:cNvPr>
          <p:cNvSpPr>
            <a:spLocks noGrp="1"/>
          </p:cNvSpPr>
          <p:nvPr/>
        </p:nvSpPr>
        <p:spPr>
          <a:xfrm>
            <a:off x="2409092" y="2684584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Read-only review logic, evidence boundaries, strict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4D4F28-AA24-48EB-AA65-F6A46ADE5951}"/>
              </a:ext>
            </a:extLst>
          </p:cNvPr>
          <p:cNvSpPr>
            <a:spLocks noGrp="1"/>
          </p:cNvSpPr>
          <p:nvPr/>
        </p:nvSpPr>
        <p:spPr>
          <a:xfrm>
            <a:off x="694592" y="3170359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5E1BB3-B85B-409A-AB8C-45B3C0A89262}"/>
              </a:ext>
            </a:extLst>
          </p:cNvPr>
          <p:cNvSpPr>
            <a:spLocks noGrp="1"/>
          </p:cNvSpPr>
          <p:nvPr/>
        </p:nvSpPr>
        <p:spPr>
          <a:xfrm>
            <a:off x="694592" y="3322759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Design 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274967-AB1D-446D-9EA9-D238AD0BDE29}"/>
              </a:ext>
            </a:extLst>
          </p:cNvPr>
          <p:cNvSpPr>
            <a:spLocks noGrp="1"/>
          </p:cNvSpPr>
          <p:nvPr/>
        </p:nvSpPr>
        <p:spPr>
          <a:xfrm>
            <a:off x="2409092" y="3322759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Brand foundations, components, content, assets, agentic surfaces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1A6900-832F-444F-8542-36C3A26E5C82}"/>
              </a:ext>
            </a:extLst>
          </p:cNvPr>
          <p:cNvSpPr>
            <a:spLocks noGrp="1"/>
          </p:cNvSpPr>
          <p:nvPr/>
        </p:nvSpPr>
        <p:spPr>
          <a:xfrm>
            <a:off x="694592" y="3808534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0C9716-523B-4D1A-9298-CC785DFE88C6}"/>
              </a:ext>
            </a:extLst>
          </p:cNvPr>
          <p:cNvSpPr>
            <a:spLocks noGrp="1"/>
          </p:cNvSpPr>
          <p:nvPr/>
        </p:nvSpPr>
        <p:spPr>
          <a:xfrm>
            <a:off x="694592" y="3960934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Reusable assets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A264AE-80CD-4014-A54B-A183A31B3E33}"/>
              </a:ext>
            </a:extLst>
          </p:cNvPr>
          <p:cNvSpPr>
            <a:spLocks noGrp="1"/>
          </p:cNvSpPr>
          <p:nvPr/>
        </p:nvSpPr>
        <p:spPr>
          <a:xfrm>
            <a:off x="2409092" y="3960934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Logo family, Horizon Sans, icons, photography, CSS and JSON tokens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73C7D-49E8-4B53-9A8F-E4463ECCDD72}"/>
              </a:ext>
            </a:extLst>
          </p:cNvPr>
          <p:cNvSpPr>
            <a:spLocks noGrp="1"/>
          </p:cNvSpPr>
          <p:nvPr/>
        </p:nvSpPr>
        <p:spPr>
          <a:xfrm>
            <a:off x="694592" y="4446709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37AF90-7C28-45E7-9039-AC02ED05A6A0}"/>
              </a:ext>
            </a:extLst>
          </p:cNvPr>
          <p:cNvSpPr>
            <a:spLocks noGrp="1"/>
          </p:cNvSpPr>
          <p:nvPr/>
        </p:nvSpPr>
        <p:spPr>
          <a:xfrm>
            <a:off x="694592" y="4599109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ACA5E2-979F-4005-8045-EAFF6144C80D}"/>
              </a:ext>
            </a:extLst>
          </p:cNvPr>
          <p:cNvSpPr>
            <a:spLocks noGrp="1"/>
          </p:cNvSpPr>
          <p:nvPr/>
        </p:nvSpPr>
        <p:spPr>
          <a:xfrm>
            <a:off x="2409092" y="4599109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Strict audit script, rendered examples, reinstall and cache-busting checks</a:t>
            </a:r>
          </a:p>
        </p:txBody>
      </p:sp>
    </p:spTree>
    <p:extLst>
      <p:ext uri="{BB962C8B-B14F-4D97-AF65-F5344CB8AC3E}">
        <p14:creationId xmlns:p14="http://schemas.microsoft.com/office/powerpoint/2010/main" val="203862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DBE14B-3477-4E4F-BA3F-3CC49BBA7725}"/>
              </a:ext>
            </a:extLst>
          </p:cNvPr>
          <p:cNvSpPr>
            <a:spLocks noGrp="1"/>
          </p:cNvSpPr>
          <p:nvPr/>
        </p:nvSpPr>
        <p:spPr>
          <a:xfrm>
            <a:off x="334108" y="350227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4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Review the whole system across scenarios—not the happy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B59E2-2CF1-4A78-BA98-1930ADD84B1F}"/>
              </a:ext>
            </a:extLst>
          </p:cNvPr>
          <p:cNvSpPr>
            <a:spLocks noGrp="1"/>
          </p:cNvSpPr>
          <p:nvPr/>
        </p:nvSpPr>
        <p:spPr>
          <a:xfrm>
            <a:off x="334108" y="877766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4A8F1-FD55-4F1F-BA74-447C4D0BB986}"/>
              </a:ext>
            </a:extLst>
          </p:cNvPr>
          <p:cNvSpPr>
            <a:spLocks noGrp="1"/>
          </p:cNvSpPr>
          <p:nvPr/>
        </p:nvSpPr>
        <p:spPr>
          <a:xfrm>
            <a:off x="474785" y="165588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Coverage dimensions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6E888B-308F-4A9C-BF9C-FFFCD2A3F9DF}"/>
              </a:ext>
            </a:extLst>
          </p:cNvPr>
          <p:cNvSpPr>
            <a:spLocks noGrp="1"/>
          </p:cNvSpPr>
          <p:nvPr/>
        </p:nvSpPr>
        <p:spPr>
          <a:xfrm>
            <a:off x="474785" y="222738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55ECC-DD26-4ACC-90D7-049A887689E5}"/>
              </a:ext>
            </a:extLst>
          </p:cNvPr>
          <p:cNvSpPr>
            <a:spLocks noGrp="1"/>
          </p:cNvSpPr>
          <p:nvPr/>
        </p:nvSpPr>
        <p:spPr>
          <a:xfrm>
            <a:off x="1732085" y="222738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web · mobile · slide · document · screenshot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B599B-9B2D-4DE2-A275-7A3DA49D75B3}"/>
              </a:ext>
            </a:extLst>
          </p:cNvPr>
          <p:cNvSpPr>
            <a:spLocks noGrp="1"/>
          </p:cNvSpPr>
          <p:nvPr/>
        </p:nvSpPr>
        <p:spPr>
          <a:xfrm>
            <a:off x="474785" y="2617910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57AD-6146-4543-88E2-6C25E4A135FF}"/>
              </a:ext>
            </a:extLst>
          </p:cNvPr>
          <p:cNvSpPr>
            <a:spLocks noGrp="1"/>
          </p:cNvSpPr>
          <p:nvPr/>
        </p:nvSpPr>
        <p:spPr>
          <a:xfrm>
            <a:off x="474785" y="282746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Viewport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42724-9CCC-46F7-A251-5063FB28D548}"/>
              </a:ext>
            </a:extLst>
          </p:cNvPr>
          <p:cNvSpPr>
            <a:spLocks noGrp="1"/>
          </p:cNvSpPr>
          <p:nvPr/>
        </p:nvSpPr>
        <p:spPr>
          <a:xfrm>
            <a:off x="1732085" y="282746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wide · narrow · zoomed · long content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03CED6-EB41-443A-99D6-9468124B89D1}"/>
              </a:ext>
            </a:extLst>
          </p:cNvPr>
          <p:cNvSpPr>
            <a:spLocks noGrp="1"/>
          </p:cNvSpPr>
          <p:nvPr/>
        </p:nvSpPr>
        <p:spPr>
          <a:xfrm>
            <a:off x="474785" y="3217985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0883A-0E54-4D5F-86C8-70B093227C1F}"/>
              </a:ext>
            </a:extLst>
          </p:cNvPr>
          <p:cNvSpPr>
            <a:spLocks noGrp="1"/>
          </p:cNvSpPr>
          <p:nvPr/>
        </p:nvSpPr>
        <p:spPr>
          <a:xfrm>
            <a:off x="474785" y="342753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7C501-E2B1-4CA6-AFD0-17FBB1A00C6E}"/>
              </a:ext>
            </a:extLst>
          </p:cNvPr>
          <p:cNvSpPr>
            <a:spLocks noGrp="1"/>
          </p:cNvSpPr>
          <p:nvPr/>
        </p:nvSpPr>
        <p:spPr>
          <a:xfrm>
            <a:off x="1732085" y="342753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loading · empty · error · success · recovery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C89547-8E71-4C24-82BE-63EEB3BDEFBC}"/>
              </a:ext>
            </a:extLst>
          </p:cNvPr>
          <p:cNvSpPr>
            <a:spLocks noGrp="1"/>
          </p:cNvSpPr>
          <p:nvPr/>
        </p:nvSpPr>
        <p:spPr>
          <a:xfrm>
            <a:off x="474785" y="3818060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CD0793-248C-4785-8DA7-D40A8D5217C5}"/>
              </a:ext>
            </a:extLst>
          </p:cNvPr>
          <p:cNvSpPr>
            <a:spLocks noGrp="1"/>
          </p:cNvSpPr>
          <p:nvPr/>
        </p:nvSpPr>
        <p:spPr>
          <a:xfrm>
            <a:off x="474785" y="402761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038EC2-E727-46C2-B4F9-71DBB3149B84}"/>
              </a:ext>
            </a:extLst>
          </p:cNvPr>
          <p:cNvSpPr>
            <a:spLocks noGrp="1"/>
          </p:cNvSpPr>
          <p:nvPr/>
        </p:nvSpPr>
        <p:spPr>
          <a:xfrm>
            <a:off x="1732085" y="402761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light · dark · image-backed · dense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35AA2F-E60E-463F-8931-5D851EEE14A8}"/>
              </a:ext>
            </a:extLst>
          </p:cNvPr>
          <p:cNvSpPr>
            <a:spLocks noGrp="1"/>
          </p:cNvSpPr>
          <p:nvPr/>
        </p:nvSpPr>
        <p:spPr>
          <a:xfrm>
            <a:off x="474785" y="4418135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198163-A961-4B21-BE3F-DA32212CAA54}"/>
              </a:ext>
            </a:extLst>
          </p:cNvPr>
          <p:cNvSpPr>
            <a:spLocks noGrp="1"/>
          </p:cNvSpPr>
          <p:nvPr/>
        </p:nvSpPr>
        <p:spPr>
          <a:xfrm>
            <a:off x="474785" y="462768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282EA7-1FF6-49EC-A391-5E6586374351}"/>
              </a:ext>
            </a:extLst>
          </p:cNvPr>
          <p:cNvSpPr>
            <a:spLocks noGrp="1"/>
          </p:cNvSpPr>
          <p:nvPr/>
        </p:nvSpPr>
        <p:spPr>
          <a:xfrm>
            <a:off x="1732085" y="462768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build from scratch · refactor · audit only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EE1B56-EA18-4746-B291-727DBC2C1EE2}"/>
              </a:ext>
            </a:extLst>
          </p:cNvPr>
          <p:cNvSpPr>
            <a:spLocks noGrp="1"/>
          </p:cNvSpPr>
          <p:nvPr/>
        </p:nvSpPr>
        <p:spPr>
          <a:xfrm>
            <a:off x="474785" y="5018210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57EBDB-34EC-4FA4-95AE-F779F9378806}"/>
              </a:ext>
            </a:extLst>
          </p:cNvPr>
          <p:cNvSpPr>
            <a:spLocks noGrp="1"/>
          </p:cNvSpPr>
          <p:nvPr/>
        </p:nvSpPr>
        <p:spPr>
          <a:xfrm>
            <a:off x="6265984" y="1655885"/>
            <a:ext cx="5621215" cy="3276600"/>
          </a:xfrm>
          <a:prstGeom prst="rect">
            <a:avLst/>
          </a:prstGeom>
          <a:solidFill>
            <a:srgbClr val="F7E8EB"/>
          </a:solidFill>
          <a:ln w="0">
            <a:noFill/>
            <a:prstDash val="solid"/>
          </a:ln>
        </p:spPr>
      </p:sp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85085" y="2036885"/>
            <a:ext cx="723900" cy="7239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75F01AC-1857-431A-8A16-8E723674403D}"/>
              </a:ext>
            </a:extLst>
          </p:cNvPr>
          <p:cNvSpPr>
            <a:spLocks noGrp="1"/>
          </p:cNvSpPr>
          <p:nvPr/>
        </p:nvSpPr>
        <p:spPr>
          <a:xfrm>
            <a:off x="7637585" y="2074985"/>
            <a:ext cx="4170484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875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What the review caught</a:t>
            </a:r>
            <a:r>
              <a:rPr lang="en-US" sz="1875" b="1" i="0" dirty="0">
                <a:solidFill>
                  <a:srgbClr val="B01C2E"/>
                </a:solidFill>
                <a:latin typeface="Arial"/>
                <a:ea typeface="Arial"/>
                <a:cs typeface="Arial"/>
              </a:rPr>
              <a:t> for design plugin</a:t>
            </a:r>
            <a:endParaRPr sz="1875" b="1" i="0" dirty="0">
              <a:solidFill>
                <a:srgbClr val="B01C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553A0F-1D65-4EA2-A14C-EB0237D46F9A}"/>
              </a:ext>
            </a:extLst>
          </p:cNvPr>
          <p:cNvSpPr>
            <a:spLocks noGrp="1"/>
          </p:cNvSpPr>
          <p:nvPr/>
        </p:nvSpPr>
        <p:spPr>
          <a:xfrm>
            <a:off x="6685085" y="2913185"/>
            <a:ext cx="5122984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237" lnSpcReduction="20000"/>
          </a:bodyPr>
          <a:lstStyle/>
          <a:p>
            <a:pPr marL="285750" indent="-285750" algn="l">
              <a:lnSpc>
                <a:spcPct val="118000"/>
              </a:lnSpc>
              <a:buFont typeface="Arial" panose="020B0604020202020204" pitchFamily="34" charset="0"/>
              <a:buChar char="•"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Yellow text on a white section.</a:t>
            </a:r>
          </a:p>
          <a:p>
            <a:pPr marL="285750" indent="-285750" algn="l">
              <a:lnSpc>
                <a:spcPct val="118000"/>
              </a:lnSpc>
              <a:buFont typeface="Arial" panose="020B0604020202020204" pitchFamily="34" charset="0"/>
              <a:buChar char="•"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Icons carrying white plates that failed on colored backgrounds.</a:t>
            </a:r>
          </a:p>
          <a:p>
            <a:pPr marL="285750" indent="-285750" algn="l">
              <a:lnSpc>
                <a:spcPct val="118000"/>
              </a:lnSpc>
              <a:buFont typeface="Arial" panose="020B0604020202020204" pitchFamily="34" charset="0"/>
              <a:buChar char="•"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Wordmark weight and scale that drifted from the intended reference.</a:t>
            </a:r>
          </a:p>
          <a:p>
            <a:pPr marL="285750" indent="-285750" algn="l">
              <a:lnSpc>
                <a:spcPct val="118000"/>
              </a:lnSpc>
              <a:buFont typeface="Arial" panose="020B0604020202020204" pitchFamily="34" charset="0"/>
              <a:buChar char="•"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preview page that was too narrow to demonstrate the full system.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1BC03C-177F-4F12-937B-C7185648B623}"/>
              </a:ext>
            </a:extLst>
          </p:cNvPr>
          <p:cNvSpPr>
            <a:spLocks noGrp="1"/>
          </p:cNvSpPr>
          <p:nvPr/>
        </p:nvSpPr>
        <p:spPr>
          <a:xfrm>
            <a:off x="6265985" y="5142035"/>
            <a:ext cx="5621214" cy="590550"/>
          </a:xfrm>
          <a:prstGeom prst="rect">
            <a:avLst/>
          </a:prstGeom>
          <a:solidFill>
            <a:srgbClr val="F4C145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B26A52-B4AD-4505-95FD-C685FA3665F8}"/>
              </a:ext>
            </a:extLst>
          </p:cNvPr>
          <p:cNvSpPr>
            <a:spLocks noGrp="1"/>
          </p:cNvSpPr>
          <p:nvPr/>
        </p:nvSpPr>
        <p:spPr>
          <a:xfrm>
            <a:off x="6551735" y="5313485"/>
            <a:ext cx="445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12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failures become new guidance—and new tests.</a:t>
            </a:r>
          </a:p>
        </p:txBody>
      </p:sp>
    </p:spTree>
    <p:extLst>
      <p:ext uri="{BB962C8B-B14F-4D97-AF65-F5344CB8AC3E}">
        <p14:creationId xmlns:p14="http://schemas.microsoft.com/office/powerpoint/2010/main" val="28753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083A8-4947-6D74-31E5-8FF5AA68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E82E24-B19B-0C0B-C9B2-F9C84622B148}"/>
              </a:ext>
            </a:extLst>
          </p:cNvPr>
          <p:cNvSpPr>
            <a:spLocks noGrp="1"/>
          </p:cNvSpPr>
          <p:nvPr/>
        </p:nvSpPr>
        <p:spPr>
          <a:xfrm>
            <a:off x="386862" y="40005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909"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Assume the model can do the work.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23F50-D437-8500-C6E6-C889E17309B4}"/>
              </a:ext>
            </a:extLst>
          </p:cNvPr>
          <p:cNvSpPr>
            <a:spLocks noGrp="1"/>
          </p:cNvSpPr>
          <p:nvPr/>
        </p:nvSpPr>
        <p:spPr>
          <a:xfrm>
            <a:off x="386862" y="9525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3300" b="0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Teach it how you want the work done.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05A8E0-3C8B-D7F8-9F1D-5285CA21241A}"/>
              </a:ext>
            </a:extLst>
          </p:cNvPr>
          <p:cNvSpPr>
            <a:spLocks noGrp="1"/>
          </p:cNvSpPr>
          <p:nvPr/>
        </p:nvSpPr>
        <p:spPr>
          <a:xfrm>
            <a:off x="619857" y="2584206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DB5354-5F73-2576-17DC-B52F071BEB13}"/>
              </a:ext>
            </a:extLst>
          </p:cNvPr>
          <p:cNvSpPr>
            <a:spLocks noGrp="1"/>
          </p:cNvSpPr>
          <p:nvPr/>
        </p:nvSpPr>
        <p:spPr>
          <a:xfrm>
            <a:off x="2220057" y="2565156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 what “good” must accomplish.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9946C8-29CE-565A-53C8-86EF47A79C99}"/>
              </a:ext>
            </a:extLst>
          </p:cNvPr>
          <p:cNvSpPr>
            <a:spLocks noGrp="1"/>
          </p:cNvSpPr>
          <p:nvPr/>
        </p:nvSpPr>
        <p:spPr>
          <a:xfrm>
            <a:off x="619857" y="3174756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HOUSE 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04EA1B-FEE7-F53A-E8D5-780E0DDD5A34}"/>
              </a:ext>
            </a:extLst>
          </p:cNvPr>
          <p:cNvSpPr>
            <a:spLocks noGrp="1"/>
          </p:cNvSpPr>
          <p:nvPr/>
        </p:nvSpPr>
        <p:spPr>
          <a:xfrm>
            <a:off x="2220057" y="3155706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 the SME’s patterns, language, and judgment.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368D30-A34E-A5CB-FA6E-FA1DDAE2597F}"/>
              </a:ext>
            </a:extLst>
          </p:cNvPr>
          <p:cNvSpPr>
            <a:spLocks noGrp="1"/>
          </p:cNvSpPr>
          <p:nvPr/>
        </p:nvSpPr>
        <p:spPr>
          <a:xfrm>
            <a:off x="619857" y="3765306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PITFALLS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C509B1-8F99-9565-CFEE-564A00664616}"/>
              </a:ext>
            </a:extLst>
          </p:cNvPr>
          <p:cNvSpPr>
            <a:spLocks noGrp="1"/>
          </p:cNvSpPr>
          <p:nvPr/>
        </p:nvSpPr>
        <p:spPr>
          <a:xfrm>
            <a:off x="2220057" y="3746256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 out common, expensive, or easy-to-miss failures.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DA5A49-6123-A0AF-6F26-28DD1AFE55DE}"/>
              </a:ext>
            </a:extLst>
          </p:cNvPr>
          <p:cNvSpPr>
            <a:spLocks noGrp="1"/>
          </p:cNvSpPr>
          <p:nvPr/>
        </p:nvSpPr>
        <p:spPr>
          <a:xfrm>
            <a:off x="619857" y="4355856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DONE GATE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FF81EA-EACD-EEA1-8130-AFE47AC1187F}"/>
              </a:ext>
            </a:extLst>
          </p:cNvPr>
          <p:cNvSpPr>
            <a:spLocks noGrp="1"/>
          </p:cNvSpPr>
          <p:nvPr/>
        </p:nvSpPr>
        <p:spPr>
          <a:xfrm>
            <a:off x="2220057" y="4336806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the evidence required before the agent stops.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2B92E74-6329-7AC1-05A5-9107277E89E9}"/>
              </a:ext>
            </a:extLst>
          </p:cNvPr>
          <p:cNvSpPr>
            <a:spLocks noGrp="1"/>
          </p:cNvSpPr>
          <p:nvPr/>
        </p:nvSpPr>
        <p:spPr>
          <a:xfrm>
            <a:off x="8705850" y="2155581"/>
            <a:ext cx="2286000" cy="22860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EBDA48C-7DD7-D06F-3EC0-D4016AF5D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258300" y="2708031"/>
            <a:ext cx="1181100" cy="11811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A370BA2-BBC4-56B4-91D6-2BE191E8BFA9}"/>
              </a:ext>
            </a:extLst>
          </p:cNvPr>
          <p:cNvSpPr>
            <a:spLocks noGrp="1"/>
          </p:cNvSpPr>
          <p:nvPr/>
        </p:nvSpPr>
        <p:spPr>
          <a:xfrm>
            <a:off x="8324850" y="4860681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freeze guidance around today’s limitations.</a:t>
            </a:r>
          </a:p>
        </p:txBody>
      </p:sp>
    </p:spTree>
    <p:extLst>
      <p:ext uri="{BB962C8B-B14F-4D97-AF65-F5344CB8AC3E}">
        <p14:creationId xmlns:p14="http://schemas.microsoft.com/office/powerpoint/2010/main" val="172292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1A7184-1184-42C3-9F7E-846FB0B3D1D9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78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Deterministic self-checks let agents iterate farther on their 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3FA30A-63A0-4123-8646-08FCA2AE959F}"/>
              </a:ext>
            </a:extLst>
          </p:cNvPr>
          <p:cNvSpPr>
            <a:spLocks noGrp="1"/>
          </p:cNvSpPr>
          <p:nvPr/>
        </p:nvSpPr>
        <p:spPr>
          <a:xfrm>
            <a:off x="323850" y="984738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2BC914-977A-4B7C-B70E-401D79477FF9}"/>
              </a:ext>
            </a:extLst>
          </p:cNvPr>
          <p:cNvSpPr>
            <a:spLocks noGrp="1"/>
          </p:cNvSpPr>
          <p:nvPr/>
        </p:nvSpPr>
        <p:spPr>
          <a:xfrm>
            <a:off x="1188720" y="2166937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68394-41B6-4704-B6F8-576EB77C44FD}"/>
              </a:ext>
            </a:extLst>
          </p:cNvPr>
          <p:cNvSpPr>
            <a:spLocks noGrp="1"/>
          </p:cNvSpPr>
          <p:nvPr/>
        </p:nvSpPr>
        <p:spPr>
          <a:xfrm>
            <a:off x="1389380" y="2360612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3E5A6-D374-476E-8AC2-B155F8C5C04B}"/>
              </a:ext>
            </a:extLst>
          </p:cNvPr>
          <p:cNvSpPr>
            <a:spLocks noGrp="1"/>
          </p:cNvSpPr>
          <p:nvPr/>
        </p:nvSpPr>
        <p:spPr>
          <a:xfrm>
            <a:off x="826770" y="3109912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02507-F954-44A6-A04E-E03D20D569ED}"/>
              </a:ext>
            </a:extLst>
          </p:cNvPr>
          <p:cNvSpPr>
            <a:spLocks noGrp="1"/>
          </p:cNvSpPr>
          <p:nvPr/>
        </p:nvSpPr>
        <p:spPr>
          <a:xfrm>
            <a:off x="685800" y="3471862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Translate the ask into explicit constraints.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EB03D-462F-4561-99FE-166B0E56A5C8}"/>
              </a:ext>
            </a:extLst>
          </p:cNvPr>
          <p:cNvSpPr>
            <a:spLocks noGrp="1"/>
          </p:cNvSpPr>
          <p:nvPr/>
        </p:nvSpPr>
        <p:spPr>
          <a:xfrm>
            <a:off x="2655570" y="2281237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6DF831-2744-404E-9D3D-2BED962F091E}"/>
              </a:ext>
            </a:extLst>
          </p:cNvPr>
          <p:cNvSpPr>
            <a:spLocks noGrp="1"/>
          </p:cNvSpPr>
          <p:nvPr/>
        </p:nvSpPr>
        <p:spPr>
          <a:xfrm>
            <a:off x="3341370" y="2166937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EBA73A-D1B2-418B-8DEF-2DBE56AA7467}"/>
              </a:ext>
            </a:extLst>
          </p:cNvPr>
          <p:cNvSpPr>
            <a:spLocks noGrp="1"/>
          </p:cNvSpPr>
          <p:nvPr/>
        </p:nvSpPr>
        <p:spPr>
          <a:xfrm>
            <a:off x="3542030" y="2360612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36DBE-A6A2-4698-8144-582F1E6C0C37}"/>
              </a:ext>
            </a:extLst>
          </p:cNvPr>
          <p:cNvSpPr>
            <a:spLocks noGrp="1"/>
          </p:cNvSpPr>
          <p:nvPr/>
        </p:nvSpPr>
        <p:spPr>
          <a:xfrm>
            <a:off x="2979420" y="3109912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EAFE0-9D32-411C-9842-2A88BFDBFB42}"/>
              </a:ext>
            </a:extLst>
          </p:cNvPr>
          <p:cNvSpPr>
            <a:spLocks noGrp="1"/>
          </p:cNvSpPr>
          <p:nvPr/>
        </p:nvSpPr>
        <p:spPr>
          <a:xfrm>
            <a:off x="2838450" y="3471862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Generate the smallest complete artifact.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768494-3C5E-4E0F-B046-C3FB79A5AFDD}"/>
              </a:ext>
            </a:extLst>
          </p:cNvPr>
          <p:cNvSpPr>
            <a:spLocks noGrp="1"/>
          </p:cNvSpPr>
          <p:nvPr/>
        </p:nvSpPr>
        <p:spPr>
          <a:xfrm>
            <a:off x="4808220" y="2281237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DFB616-5552-40EA-BB54-B7D24DF7B93B}"/>
              </a:ext>
            </a:extLst>
          </p:cNvPr>
          <p:cNvSpPr>
            <a:spLocks noGrp="1"/>
          </p:cNvSpPr>
          <p:nvPr/>
        </p:nvSpPr>
        <p:spPr>
          <a:xfrm>
            <a:off x="5494020" y="2166937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120A25-B526-4019-B8C5-93E2F17F5F8F}"/>
              </a:ext>
            </a:extLst>
          </p:cNvPr>
          <p:cNvSpPr>
            <a:spLocks noGrp="1"/>
          </p:cNvSpPr>
          <p:nvPr/>
        </p:nvSpPr>
        <p:spPr>
          <a:xfrm>
            <a:off x="5694680" y="2360612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7A703-403B-408F-8CAD-EE2164516943}"/>
              </a:ext>
            </a:extLst>
          </p:cNvPr>
          <p:cNvSpPr>
            <a:spLocks noGrp="1"/>
          </p:cNvSpPr>
          <p:nvPr/>
        </p:nvSpPr>
        <p:spPr>
          <a:xfrm>
            <a:off x="5132070" y="3109912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8E9C0F-929E-4291-B8A7-FD18276249F1}"/>
              </a:ext>
            </a:extLst>
          </p:cNvPr>
          <p:cNvSpPr>
            <a:spLocks noGrp="1"/>
          </p:cNvSpPr>
          <p:nvPr/>
        </p:nvSpPr>
        <p:spPr>
          <a:xfrm>
            <a:off x="4943475" y="3453179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56565A"/>
                </a:solidFill>
                <a:latin typeface="Arial"/>
                <a:ea typeface="Arial"/>
                <a:cs typeface="Arial"/>
              </a:rPr>
              <a:t>Run deterministic tests and validators.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B1F48F-C5C3-40C0-9EB2-20C24E8187CE}"/>
              </a:ext>
            </a:extLst>
          </p:cNvPr>
          <p:cNvSpPr>
            <a:spLocks noGrp="1"/>
          </p:cNvSpPr>
          <p:nvPr/>
        </p:nvSpPr>
        <p:spPr>
          <a:xfrm>
            <a:off x="6960870" y="2281237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59B7F7-4D93-45DD-9D3F-A7F8BCE47F5C}"/>
              </a:ext>
            </a:extLst>
          </p:cNvPr>
          <p:cNvSpPr>
            <a:spLocks noGrp="1"/>
          </p:cNvSpPr>
          <p:nvPr/>
        </p:nvSpPr>
        <p:spPr>
          <a:xfrm>
            <a:off x="7646670" y="2166937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1A570-1430-4230-87D8-5094413642F5}"/>
              </a:ext>
            </a:extLst>
          </p:cNvPr>
          <p:cNvSpPr>
            <a:spLocks noGrp="1"/>
          </p:cNvSpPr>
          <p:nvPr/>
        </p:nvSpPr>
        <p:spPr>
          <a:xfrm>
            <a:off x="7847330" y="2360612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7D4A26-1C8B-49DA-A18F-C8EAE25A2A5D}"/>
              </a:ext>
            </a:extLst>
          </p:cNvPr>
          <p:cNvSpPr>
            <a:spLocks noGrp="1"/>
          </p:cNvSpPr>
          <p:nvPr/>
        </p:nvSpPr>
        <p:spPr>
          <a:xfrm>
            <a:off x="7284720" y="3109912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18AE74-5315-4780-88DA-45B86353980F}"/>
              </a:ext>
            </a:extLst>
          </p:cNvPr>
          <p:cNvSpPr>
            <a:spLocks noGrp="1"/>
          </p:cNvSpPr>
          <p:nvPr/>
        </p:nvSpPr>
        <p:spPr>
          <a:xfrm>
            <a:off x="7143750" y="3471862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Render and review behavior and visual output.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1D8464-6D94-4A6D-8496-E6E5554CD1B8}"/>
              </a:ext>
            </a:extLst>
          </p:cNvPr>
          <p:cNvSpPr>
            <a:spLocks noGrp="1"/>
          </p:cNvSpPr>
          <p:nvPr/>
        </p:nvSpPr>
        <p:spPr>
          <a:xfrm>
            <a:off x="9113520" y="2281237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961E19A-47B4-4AC7-A648-FB66203ED4DD}"/>
              </a:ext>
            </a:extLst>
          </p:cNvPr>
          <p:cNvSpPr>
            <a:spLocks noGrp="1"/>
          </p:cNvSpPr>
          <p:nvPr/>
        </p:nvSpPr>
        <p:spPr>
          <a:xfrm>
            <a:off x="9799320" y="2166937"/>
            <a:ext cx="723900" cy="723900"/>
          </a:xfrm>
          <a:prstGeom prst="ellipse">
            <a:avLst/>
          </a:prstGeom>
          <a:solidFill>
            <a:srgbClr val="4D4F91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D02A5C-3B4B-4D19-9545-C8B41A8A18C4}"/>
              </a:ext>
            </a:extLst>
          </p:cNvPr>
          <p:cNvSpPr>
            <a:spLocks noGrp="1"/>
          </p:cNvSpPr>
          <p:nvPr/>
        </p:nvSpPr>
        <p:spPr>
          <a:xfrm>
            <a:off x="9999980" y="2360612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6D9A44-DA6C-4CC0-8637-D8B7632982FA}"/>
              </a:ext>
            </a:extLst>
          </p:cNvPr>
          <p:cNvSpPr>
            <a:spLocks noGrp="1"/>
          </p:cNvSpPr>
          <p:nvPr/>
        </p:nvSpPr>
        <p:spPr>
          <a:xfrm>
            <a:off x="9437370" y="3109912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2189E5-2AE1-4D49-B9F3-C633382DCDCD}"/>
              </a:ext>
            </a:extLst>
          </p:cNvPr>
          <p:cNvSpPr>
            <a:spLocks noGrp="1"/>
          </p:cNvSpPr>
          <p:nvPr/>
        </p:nvSpPr>
        <p:spPr>
          <a:xfrm>
            <a:off x="9179365" y="3462339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56565A"/>
                </a:solidFill>
                <a:latin typeface="Arial"/>
                <a:ea typeface="Arial"/>
                <a:cs typeface="Arial"/>
              </a:rPr>
              <a:t>Fix, rerun, and feed the learning back.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916A42-8F7D-4C9E-AA36-EA5233F9ECF0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2197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D7ED83-962A-4679-B89D-631A7E7FA52C}"/>
              </a:ext>
            </a:extLst>
          </p:cNvPr>
          <p:cNvSpPr>
            <a:spLocks noGrp="1"/>
          </p:cNvSpPr>
          <p:nvPr/>
        </p:nvSpPr>
        <p:spPr>
          <a:xfrm>
            <a:off x="933450" y="551497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PROGRAMMATIC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89E248-512A-4FF4-911D-F6DDAD16B69C}"/>
              </a:ext>
            </a:extLst>
          </p:cNvPr>
          <p:cNvSpPr>
            <a:spLocks noGrp="1"/>
          </p:cNvSpPr>
          <p:nvPr/>
        </p:nvSpPr>
        <p:spPr>
          <a:xfrm>
            <a:off x="933450" y="5829300"/>
            <a:ext cx="468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81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schema · lint · contrast · assets · responsive rules · golden traces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12A67-9A06-4707-BF1D-B2D479E1E65C}"/>
              </a:ext>
            </a:extLst>
          </p:cNvPr>
          <p:cNvSpPr>
            <a:spLocks noGrp="1"/>
          </p:cNvSpPr>
          <p:nvPr/>
        </p:nvSpPr>
        <p:spPr>
          <a:xfrm>
            <a:off x="6286500" y="5314950"/>
            <a:ext cx="52197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BAB5C8-5DEA-4832-874C-408709619728}"/>
              </a:ext>
            </a:extLst>
          </p:cNvPr>
          <p:cNvSpPr>
            <a:spLocks noGrp="1"/>
          </p:cNvSpPr>
          <p:nvPr/>
        </p:nvSpPr>
        <p:spPr>
          <a:xfrm>
            <a:off x="6534150" y="551497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HUMAN / SME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5222A4-4C43-41D8-A45A-30E92DB34A3F}"/>
              </a:ext>
            </a:extLst>
          </p:cNvPr>
          <p:cNvSpPr>
            <a:spLocks noGrp="1"/>
          </p:cNvSpPr>
          <p:nvPr/>
        </p:nvSpPr>
        <p:spPr>
          <a:xfrm>
            <a:off x="6534150" y="5829300"/>
            <a:ext cx="468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intent · judgment · trust · usability · edge-case acceptance</a:t>
            </a:r>
          </a:p>
        </p:txBody>
      </p:sp>
    </p:spTree>
    <p:extLst>
      <p:ext uri="{BB962C8B-B14F-4D97-AF65-F5344CB8AC3E}">
        <p14:creationId xmlns:p14="http://schemas.microsoft.com/office/powerpoint/2010/main" val="88579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C4DD0-3D27-E7D0-21A8-A1A3C80AE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24ACDE-527E-C97F-71E3-A6FE446B49D6}"/>
              </a:ext>
            </a:extLst>
          </p:cNvPr>
          <p:cNvSpPr>
            <a:spLocks noGrp="1"/>
          </p:cNvSpPr>
          <p:nvPr/>
        </p:nvSpPr>
        <p:spPr>
          <a:xfrm>
            <a:off x="483577" y="404813"/>
            <a:ext cx="9662746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857"/>
          </a:bodyPr>
          <a:lstStyle/>
          <a:p>
            <a:pPr algn="l">
              <a:lnSpc>
                <a:spcPct val="95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skill your future agents deserve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8E7C0-4608-CE72-8D82-6A2A2D4E8D5D}"/>
              </a:ext>
            </a:extLst>
          </p:cNvPr>
          <p:cNvSpPr>
            <a:spLocks noGrp="1"/>
          </p:cNvSpPr>
          <p:nvPr/>
        </p:nvSpPr>
        <p:spPr>
          <a:xfrm>
            <a:off x="483577" y="1100137"/>
            <a:ext cx="1009650" cy="66675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868A3C-87D4-73E3-B966-96DC7DAD3919}"/>
              </a:ext>
            </a:extLst>
          </p:cNvPr>
          <p:cNvSpPr>
            <a:spLocks noGrp="1"/>
          </p:cNvSpPr>
          <p:nvPr/>
        </p:nvSpPr>
        <p:spPr>
          <a:xfrm>
            <a:off x="606670" y="193357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8FD0E4-C3BA-08CF-E1D1-9306C17F6510}"/>
              </a:ext>
            </a:extLst>
          </p:cNvPr>
          <p:cNvSpPr>
            <a:spLocks noGrp="1"/>
          </p:cNvSpPr>
          <p:nvPr/>
        </p:nvSpPr>
        <p:spPr>
          <a:xfrm>
            <a:off x="1159120" y="191452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the SME’s real decisions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31655-FE4D-735D-0964-7C69B551F1F9}"/>
              </a:ext>
            </a:extLst>
          </p:cNvPr>
          <p:cNvSpPr>
            <a:spLocks noGrp="1"/>
          </p:cNvSpPr>
          <p:nvPr/>
        </p:nvSpPr>
        <p:spPr>
          <a:xfrm>
            <a:off x="606670" y="245745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281B3-7CFB-40F9-F3E4-C5A2F9A4C26F}"/>
              </a:ext>
            </a:extLst>
          </p:cNvPr>
          <p:cNvSpPr>
            <a:spLocks noGrp="1"/>
          </p:cNvSpPr>
          <p:nvPr/>
        </p:nvSpPr>
        <p:spPr>
          <a:xfrm>
            <a:off x="1159120" y="24384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principles from tool mechanics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6CAB3-02D5-0257-3062-132B4EF1C275}"/>
              </a:ext>
            </a:extLst>
          </p:cNvPr>
          <p:cNvSpPr>
            <a:spLocks noGrp="1"/>
          </p:cNvSpPr>
          <p:nvPr/>
        </p:nvSpPr>
        <p:spPr>
          <a:xfrm>
            <a:off x="606670" y="298132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50375-7CF4-3264-A681-9E838EAFF3C6}"/>
              </a:ext>
            </a:extLst>
          </p:cNvPr>
          <p:cNvSpPr>
            <a:spLocks noGrp="1"/>
          </p:cNvSpPr>
          <p:nvPr/>
        </p:nvSpPr>
        <p:spPr>
          <a:xfrm>
            <a:off x="1159120" y="29622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 guidance, examples, assets, and validators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6051B-804D-EA32-E2C5-BFC7664812D9}"/>
              </a:ext>
            </a:extLst>
          </p:cNvPr>
          <p:cNvSpPr>
            <a:spLocks noGrp="1"/>
          </p:cNvSpPr>
          <p:nvPr/>
        </p:nvSpPr>
        <p:spPr>
          <a:xfrm>
            <a:off x="606670" y="35052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F460EF-5763-DB37-4DF0-923380D6388C}"/>
              </a:ext>
            </a:extLst>
          </p:cNvPr>
          <p:cNvSpPr>
            <a:spLocks noGrp="1"/>
          </p:cNvSpPr>
          <p:nvPr/>
        </p:nvSpPr>
        <p:spPr>
          <a:xfrm>
            <a:off x="1159120" y="34861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across scenarios and agents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1EFC7-35B1-11B6-A99E-E0A77E21CF53}"/>
              </a:ext>
            </a:extLst>
          </p:cNvPr>
          <p:cNvSpPr>
            <a:spLocks noGrp="1"/>
          </p:cNvSpPr>
          <p:nvPr/>
        </p:nvSpPr>
        <p:spPr>
          <a:xfrm>
            <a:off x="606670" y="402907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84D8B-F93E-2A2C-EE6F-861EC8DEAAEB}"/>
              </a:ext>
            </a:extLst>
          </p:cNvPr>
          <p:cNvSpPr>
            <a:spLocks noGrp="1"/>
          </p:cNvSpPr>
          <p:nvPr/>
        </p:nvSpPr>
        <p:spPr>
          <a:xfrm>
            <a:off x="1159120" y="401002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human and programmatic feedback loops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3CD8F-3CEE-D467-F60A-8C4520CFFACF}"/>
              </a:ext>
            </a:extLst>
          </p:cNvPr>
          <p:cNvSpPr>
            <a:spLocks noGrp="1"/>
          </p:cNvSpPr>
          <p:nvPr/>
        </p:nvSpPr>
        <p:spPr>
          <a:xfrm>
            <a:off x="606670" y="455295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8BD7EA-8E1B-A2D3-20E1-78659DE319B8}"/>
              </a:ext>
            </a:extLst>
          </p:cNvPr>
          <p:cNvSpPr>
            <a:spLocks noGrp="1"/>
          </p:cNvSpPr>
          <p:nvPr/>
        </p:nvSpPr>
        <p:spPr>
          <a:xfrm>
            <a:off x="1159120" y="45339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 signoff—and keep improving the skill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0BB537-7378-7EC5-2D19-4AFDA59FB016}"/>
              </a:ext>
            </a:extLst>
          </p:cNvPr>
          <p:cNvSpPr>
            <a:spLocks noGrp="1"/>
          </p:cNvSpPr>
          <p:nvPr/>
        </p:nvSpPr>
        <p:spPr>
          <a:xfrm>
            <a:off x="606670" y="5191125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The model brings intelligence.</a:t>
            </a:r>
          </a:p>
          <a:p>
            <a:pPr algn="l">
              <a:lnSpc>
                <a:spcPct val="105000"/>
              </a:lnSpc>
              <a:buNone/>
              <a:defRPr sz="16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The skill brings your way of working.</a:t>
            </a:r>
          </a:p>
        </p:txBody>
      </p:sp>
    </p:spTree>
    <p:extLst>
      <p:ext uri="{BB962C8B-B14F-4D97-AF65-F5344CB8AC3E}">
        <p14:creationId xmlns:p14="http://schemas.microsoft.com/office/powerpoint/2010/main" val="3366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2023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owerPoint_16x9_0424_a11y.pptx" id="{5FC1AFA6-1E8A-6845-81C2-456BE5BFCC94}" vid="{D87739C2-4BE8-E541-8077-ADB231F86138}"/>
    </a:ext>
  </a:extLst>
</a:theme>
</file>

<file path=ppt/theme/theme2.xml><?xml version="1.0" encoding="utf-8"?>
<a:theme xmlns:a="http://schemas.openxmlformats.org/drawingml/2006/main" name="Wells Fargo 2020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2020">
  <a:themeElements>
    <a:clrScheme name="Wells Fargo 2020 Colors">
      <a:dk1>
        <a:srgbClr val="141414"/>
      </a:dk1>
      <a:lt1>
        <a:srgbClr val="FFFFFF"/>
      </a:lt1>
      <a:dk2>
        <a:srgbClr val="D71E28"/>
      </a:dk2>
      <a:lt2>
        <a:srgbClr val="F4F0ED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2020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2020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rgbClr val="787070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rgbClr val="787070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800"/>
        </a:defPPr>
      </a:lstStyle>
    </a:txDef>
  </a:objectDefaults>
  <a:extraClrSchemeLst/>
  <a:custClrLst>
    <a:custClr name="Red">
      <a:srgbClr val="D71E28"/>
    </a:custClr>
    <a:custClr name="Yellow">
      <a:srgbClr val="FFD100"/>
    </a:custClr>
    <a:custClr name="Yellow Tint 1">
      <a:srgbClr val="FFDF4C"/>
    </a:custClr>
    <a:custClr name="Yellow Tint 2">
      <a:srgbClr val="FFE87F"/>
    </a:custClr>
    <a:custClr name="Yellow Tint 3">
      <a:srgbClr val="FFF1B2"/>
    </a:custClr>
    <a:custClr name="Yellow Tint 4">
      <a:srgbClr val="FFF8D9"/>
    </a:custClr>
    <a:custClr name="Gray 1">
      <a:srgbClr val="3B3331"/>
    </a:custClr>
    <a:custClr name="Gray 2">
      <a:srgbClr val="787070"/>
    </a:custClr>
    <a:custClr name="Gray 3">
      <a:srgbClr val="B5ADAD"/>
    </a:custClr>
    <a:custClr name="Gray 4">
      <a:srgbClr val="F4F0ED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Wells Fargo 2023</Template>
  <TotalTime>24069</TotalTime>
  <Words>1614</Words>
  <Application>Microsoft Macintosh PowerPoint</Application>
  <PresentationFormat>Widescreen</PresentationFormat>
  <Paragraphs>207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Wells Fargo Sans</vt:lpstr>
      <vt:lpstr>Wells Fargo Sans Display</vt:lpstr>
      <vt:lpstr>Wells Fargo 2023</vt:lpstr>
      <vt:lpstr>Building Skills &amp; Plugins Learnings from Horizon Bank Plugin Prototypes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Ramesh Yarlagadda</dc:creator>
  <cp:keywords/>
  <dc:description/>
  <cp:lastModifiedBy>Ramesh Yarlagadda</cp:lastModifiedBy>
  <cp:revision>193</cp:revision>
  <cp:lastPrinted>2018-10-13T23:11:53Z</cp:lastPrinted>
  <dcterms:created xsi:type="dcterms:W3CDTF">2024-07-26T22:34:02Z</dcterms:created>
  <dcterms:modified xsi:type="dcterms:W3CDTF">2026-08-03T15:22:11Z</dcterms:modified>
  <cp:category/>
</cp:coreProperties>
</file>